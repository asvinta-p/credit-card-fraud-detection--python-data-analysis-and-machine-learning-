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Poppins Bold" charset="1" panose="00000800000000000000"/>
      <p:regular r:id="rId21"/>
    </p:embeddedFont>
    <p:embeddedFont>
      <p:font typeface="Inter" charset="1" panose="02000503000000020004"/>
      <p:regular r:id="rId22"/>
    </p:embeddedFont>
    <p:embeddedFont>
      <p:font typeface="Canva Sans" charset="1" panose="020B0503030501040103"/>
      <p:regular r:id="rId23"/>
    </p:embeddedFont>
    <p:embeddedFont>
      <p:font typeface="Canva Sans Bold" charset="1" panose="020B0803030501040103"/>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AutoShape 3" id="3"/>
          <p:cNvSpPr/>
          <p:nvPr/>
        </p:nvSpPr>
        <p:spPr>
          <a:xfrm flipV="true">
            <a:off x="16590805" y="810336"/>
            <a:ext cx="0" cy="8666329"/>
          </a:xfrm>
          <a:prstGeom prst="line">
            <a:avLst/>
          </a:prstGeom>
          <a:ln cap="flat" w="19050">
            <a:solidFill>
              <a:srgbClr val="FFFFFF"/>
            </a:solidFill>
            <a:prstDash val="solid"/>
            <a:headEnd type="none" len="sm" w="sm"/>
            <a:tailEnd type="none" len="sm" w="sm"/>
          </a:ln>
        </p:spPr>
      </p:sp>
      <p:sp>
        <p:nvSpPr>
          <p:cNvPr name="TextBox 4" id="4"/>
          <p:cNvSpPr txBox="true"/>
          <p:nvPr/>
        </p:nvSpPr>
        <p:spPr>
          <a:xfrm rot="0">
            <a:off x="2995932" y="738833"/>
            <a:ext cx="11781039" cy="3169520"/>
          </a:xfrm>
          <a:prstGeom prst="rect">
            <a:avLst/>
          </a:prstGeom>
        </p:spPr>
        <p:txBody>
          <a:bodyPr anchor="t" rtlCol="false" tIns="0" lIns="0" bIns="0" rIns="0">
            <a:spAutoFit/>
          </a:bodyPr>
          <a:lstStyle/>
          <a:p>
            <a:pPr algn="l">
              <a:lnSpc>
                <a:spcPts val="12182"/>
              </a:lnSpc>
            </a:pPr>
            <a:r>
              <a:rPr lang="en-US" b="true" sz="9699" spc="96">
                <a:solidFill>
                  <a:srgbClr val="FFFFFF"/>
                </a:solidFill>
                <a:latin typeface="Poppins Bold"/>
                <a:ea typeface="Poppins Bold"/>
                <a:cs typeface="Poppins Bold"/>
                <a:sym typeface="Poppins Bold"/>
              </a:rPr>
              <a:t>CREDIT CARD FRAUD DETECTION</a:t>
            </a:r>
          </a:p>
        </p:txBody>
      </p:sp>
      <p:grpSp>
        <p:nvGrpSpPr>
          <p:cNvPr name="Group 5" id="5"/>
          <p:cNvGrpSpPr/>
          <p:nvPr/>
        </p:nvGrpSpPr>
        <p:grpSpPr>
          <a:xfrm rot="0">
            <a:off x="1176847" y="2300666"/>
            <a:ext cx="802643" cy="80264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F7F"/>
            </a:solidFill>
          </p:spPr>
        </p:sp>
        <p:sp>
          <p:nvSpPr>
            <p:cNvPr name="TextBox 7" id="7"/>
            <p:cNvSpPr txBox="true"/>
            <p:nvPr/>
          </p:nvSpPr>
          <p:spPr>
            <a:xfrm>
              <a:off x="76200" y="47625"/>
              <a:ext cx="660400" cy="688975"/>
            </a:xfrm>
            <a:prstGeom prst="rect">
              <a:avLst/>
            </a:prstGeom>
          </p:spPr>
          <p:txBody>
            <a:bodyPr anchor="ctr" rtlCol="false" tIns="50800" lIns="50800" bIns="50800" rIns="50800"/>
            <a:lstStyle/>
            <a:p>
              <a:pPr algn="ctr">
                <a:lnSpc>
                  <a:spcPts val="2366"/>
                </a:lnSpc>
              </a:pPr>
            </a:p>
          </p:txBody>
        </p:sp>
      </p:grpSp>
      <p:sp>
        <p:nvSpPr>
          <p:cNvPr name="TextBox 8" id="8"/>
          <p:cNvSpPr txBox="true"/>
          <p:nvPr/>
        </p:nvSpPr>
        <p:spPr>
          <a:xfrm rot="0">
            <a:off x="1697195" y="4641057"/>
            <a:ext cx="15562105" cy="1341116"/>
          </a:xfrm>
          <a:prstGeom prst="rect">
            <a:avLst/>
          </a:prstGeom>
        </p:spPr>
        <p:txBody>
          <a:bodyPr anchor="t" rtlCol="false" tIns="0" lIns="0" bIns="0" rIns="0">
            <a:spAutoFit/>
          </a:bodyPr>
          <a:lstStyle/>
          <a:p>
            <a:pPr algn="l">
              <a:lnSpc>
                <a:spcPts val="5383"/>
              </a:lnSpc>
            </a:pPr>
            <a:r>
              <a:rPr lang="en-US" sz="4286" spc="42">
                <a:solidFill>
                  <a:srgbClr val="FFFFFF"/>
                </a:solidFill>
                <a:latin typeface="Inter"/>
                <a:ea typeface="Inter"/>
                <a:cs typeface="Inter"/>
                <a:sym typeface="Inter"/>
              </a:rPr>
              <a:t>Predicting fraudulent credit card transactions using machine learning classification approach</a:t>
            </a:r>
          </a:p>
        </p:txBody>
      </p:sp>
      <p:sp>
        <p:nvSpPr>
          <p:cNvPr name="TextBox 9" id="9"/>
          <p:cNvSpPr txBox="true"/>
          <p:nvPr/>
        </p:nvSpPr>
        <p:spPr>
          <a:xfrm rot="0">
            <a:off x="13487660" y="6887813"/>
            <a:ext cx="3103145" cy="1275611"/>
          </a:xfrm>
          <a:prstGeom prst="rect">
            <a:avLst/>
          </a:prstGeom>
        </p:spPr>
        <p:txBody>
          <a:bodyPr anchor="t" rtlCol="false" tIns="0" lIns="0" bIns="0" rIns="0">
            <a:spAutoFit/>
          </a:bodyPr>
          <a:lstStyle/>
          <a:p>
            <a:pPr algn="l">
              <a:lnSpc>
                <a:spcPts val="5149"/>
              </a:lnSpc>
            </a:pPr>
            <a:r>
              <a:rPr lang="en-US" sz="3786" spc="37">
                <a:solidFill>
                  <a:srgbClr val="FFFFFF"/>
                </a:solidFill>
                <a:latin typeface="Canva Sans"/>
                <a:ea typeface="Canva Sans"/>
                <a:cs typeface="Canva Sans"/>
                <a:sym typeface="Canva Sans"/>
              </a:rPr>
              <a:t>Asvinta P </a:t>
            </a:r>
          </a:p>
          <a:p>
            <a:pPr algn="l">
              <a:lnSpc>
                <a:spcPts val="5149"/>
              </a:lnSpc>
            </a:pPr>
            <a:r>
              <a:rPr lang="en-US" sz="3786" spc="37">
                <a:solidFill>
                  <a:srgbClr val="FFFFFF"/>
                </a:solidFill>
                <a:latin typeface="Canva Sans"/>
                <a:ea typeface="Canva Sans"/>
                <a:cs typeface="Canva Sans"/>
                <a:sym typeface="Canva Sans"/>
              </a:rPr>
              <a:t>16-05-2026</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383561" y="-206027"/>
            <a:ext cx="1412261" cy="10699054"/>
            <a:chOff x="0" y="0"/>
            <a:chExt cx="371953" cy="2817858"/>
          </a:xfrm>
        </p:grpSpPr>
        <p:sp>
          <p:nvSpPr>
            <p:cNvPr name="Freeform 3" id="3"/>
            <p:cNvSpPr/>
            <p:nvPr/>
          </p:nvSpPr>
          <p:spPr>
            <a:xfrm flipH="false" flipV="false" rot="0">
              <a:off x="0" y="0"/>
              <a:ext cx="371953" cy="2817858"/>
            </a:xfrm>
            <a:custGeom>
              <a:avLst/>
              <a:gdLst/>
              <a:ahLst/>
              <a:cxnLst/>
              <a:rect r="r" b="b" t="t" l="l"/>
              <a:pathLst>
                <a:path h="2817858" w="371953">
                  <a:moveTo>
                    <a:pt x="0" y="0"/>
                  </a:moveTo>
                  <a:lnTo>
                    <a:pt x="371953" y="0"/>
                  </a:lnTo>
                  <a:lnTo>
                    <a:pt x="371953" y="2817858"/>
                  </a:lnTo>
                  <a:lnTo>
                    <a:pt x="0" y="2817858"/>
                  </a:lnTo>
                  <a:close/>
                </a:path>
              </a:pathLst>
            </a:custGeom>
            <a:solidFill>
              <a:srgbClr val="56A1A8"/>
            </a:solidFill>
          </p:spPr>
        </p:sp>
        <p:sp>
          <p:nvSpPr>
            <p:cNvPr name="TextBox 4" id="4"/>
            <p:cNvSpPr txBox="true"/>
            <p:nvPr/>
          </p:nvSpPr>
          <p:spPr>
            <a:xfrm>
              <a:off x="0" y="-28575"/>
              <a:ext cx="371953" cy="2846433"/>
            </a:xfrm>
            <a:prstGeom prst="rect">
              <a:avLst/>
            </a:prstGeom>
          </p:spPr>
          <p:txBody>
            <a:bodyPr anchor="ctr" rtlCol="false" tIns="50800" lIns="50800" bIns="50800" rIns="50800"/>
            <a:lstStyle/>
            <a:p>
              <a:pPr algn="ctr">
                <a:lnSpc>
                  <a:spcPts val="2366"/>
                </a:lnSpc>
              </a:pPr>
            </a:p>
          </p:txBody>
        </p:sp>
      </p:grpSp>
      <p:sp>
        <p:nvSpPr>
          <p:cNvPr name="TextBox 5" id="5"/>
          <p:cNvSpPr txBox="true"/>
          <p:nvPr/>
        </p:nvSpPr>
        <p:spPr>
          <a:xfrm rot="0">
            <a:off x="6728368" y="4519776"/>
            <a:ext cx="405155" cy="355913"/>
          </a:xfrm>
          <a:prstGeom prst="rect">
            <a:avLst/>
          </a:prstGeom>
        </p:spPr>
        <p:txBody>
          <a:bodyPr anchor="t" rtlCol="false" tIns="0" lIns="0" bIns="0" rIns="0">
            <a:spAutoFit/>
          </a:bodyPr>
          <a:lstStyle/>
          <a:p>
            <a:pPr algn="l">
              <a:lnSpc>
                <a:spcPts val="2957"/>
              </a:lnSpc>
            </a:pPr>
            <a:r>
              <a:rPr lang="en-US" b="true" sz="2112" spc="-33">
                <a:solidFill>
                  <a:srgbClr val="FFF8F0"/>
                </a:solidFill>
                <a:latin typeface="Canva Sans Bold"/>
                <a:ea typeface="Canva Sans Bold"/>
                <a:cs typeface="Canva Sans Bold"/>
                <a:sym typeface="Canva Sans Bold"/>
              </a:rPr>
              <a:t>1</a:t>
            </a:r>
          </a:p>
        </p:txBody>
      </p:sp>
      <p:sp>
        <p:nvSpPr>
          <p:cNvPr name="TextBox 6" id="6"/>
          <p:cNvSpPr txBox="true"/>
          <p:nvPr/>
        </p:nvSpPr>
        <p:spPr>
          <a:xfrm rot="0">
            <a:off x="6728368" y="5865265"/>
            <a:ext cx="405155" cy="355913"/>
          </a:xfrm>
          <a:prstGeom prst="rect">
            <a:avLst/>
          </a:prstGeom>
        </p:spPr>
        <p:txBody>
          <a:bodyPr anchor="t" rtlCol="false" tIns="0" lIns="0" bIns="0" rIns="0">
            <a:spAutoFit/>
          </a:bodyPr>
          <a:lstStyle/>
          <a:p>
            <a:pPr algn="l">
              <a:lnSpc>
                <a:spcPts val="2957"/>
              </a:lnSpc>
            </a:pPr>
            <a:r>
              <a:rPr lang="en-US" b="true" sz="2112" spc="-33">
                <a:solidFill>
                  <a:srgbClr val="FFF8F0"/>
                </a:solidFill>
                <a:latin typeface="Canva Sans Bold"/>
                <a:ea typeface="Canva Sans Bold"/>
                <a:cs typeface="Canva Sans Bold"/>
                <a:sym typeface="Canva Sans Bold"/>
              </a:rPr>
              <a:t>2</a:t>
            </a:r>
          </a:p>
        </p:txBody>
      </p:sp>
      <p:sp>
        <p:nvSpPr>
          <p:cNvPr name="TextBox 7" id="7"/>
          <p:cNvSpPr txBox="true"/>
          <p:nvPr/>
        </p:nvSpPr>
        <p:spPr>
          <a:xfrm rot="0">
            <a:off x="1307673" y="2533890"/>
            <a:ext cx="15951627" cy="2182892"/>
          </a:xfrm>
          <a:prstGeom prst="rect">
            <a:avLst/>
          </a:prstGeom>
        </p:spPr>
        <p:txBody>
          <a:bodyPr anchor="t" rtlCol="false" tIns="0" lIns="0" bIns="0" rIns="0">
            <a:spAutoFit/>
          </a:bodyPr>
          <a:lstStyle/>
          <a:p>
            <a:pPr algn="just" marL="709091" indent="-354545" lvl="1">
              <a:lnSpc>
                <a:spcPts val="4598"/>
              </a:lnSpc>
              <a:buFont typeface="Arial"/>
              <a:buChar char="•"/>
            </a:pPr>
            <a:r>
              <a:rPr lang="en-US" sz="3284" spc="32">
                <a:solidFill>
                  <a:srgbClr val="2B2E3C"/>
                </a:solidFill>
                <a:latin typeface="Canva Sans"/>
                <a:ea typeface="Canva Sans"/>
                <a:cs typeface="Canva Sans"/>
                <a:sym typeface="Canva Sans"/>
              </a:rPr>
              <a:t>To detect fraudulent credit card transactions using machine learning classification models and to compare multiple classification algorithms and identify the best-performing model.</a:t>
            </a:r>
          </a:p>
          <a:p>
            <a:pPr algn="l">
              <a:lnSpc>
                <a:spcPts val="3618"/>
              </a:lnSpc>
            </a:pPr>
          </a:p>
        </p:txBody>
      </p:sp>
      <p:sp>
        <p:nvSpPr>
          <p:cNvPr name="TextBox 8" id="8"/>
          <p:cNvSpPr txBox="true"/>
          <p:nvPr/>
        </p:nvSpPr>
        <p:spPr>
          <a:xfrm rot="0">
            <a:off x="1576992" y="1066800"/>
            <a:ext cx="10707907" cy="1005126"/>
          </a:xfrm>
          <a:prstGeom prst="rect">
            <a:avLst/>
          </a:prstGeom>
        </p:spPr>
        <p:txBody>
          <a:bodyPr anchor="t" rtlCol="false" tIns="0" lIns="0" bIns="0" rIns="0">
            <a:spAutoFit/>
          </a:bodyPr>
          <a:lstStyle/>
          <a:p>
            <a:pPr algn="l">
              <a:lnSpc>
                <a:spcPts val="7873"/>
              </a:lnSpc>
            </a:pPr>
            <a:r>
              <a:rPr lang="en-US" b="true" sz="6906" spc="-151">
                <a:solidFill>
                  <a:srgbClr val="000000"/>
                </a:solidFill>
                <a:latin typeface="Canva Sans Bold"/>
                <a:ea typeface="Canva Sans Bold"/>
                <a:cs typeface="Canva Sans Bold"/>
                <a:sym typeface="Canva Sans Bold"/>
              </a:rPr>
              <a:t>OBJECTIVE</a:t>
            </a:r>
          </a:p>
        </p:txBody>
      </p:sp>
      <p:sp>
        <p:nvSpPr>
          <p:cNvPr name="TextBox 9" id="9"/>
          <p:cNvSpPr txBox="true"/>
          <p:nvPr/>
        </p:nvSpPr>
        <p:spPr>
          <a:xfrm rot="0">
            <a:off x="6728368" y="7210754"/>
            <a:ext cx="405155" cy="355913"/>
          </a:xfrm>
          <a:prstGeom prst="rect">
            <a:avLst/>
          </a:prstGeom>
        </p:spPr>
        <p:txBody>
          <a:bodyPr anchor="t" rtlCol="false" tIns="0" lIns="0" bIns="0" rIns="0">
            <a:spAutoFit/>
          </a:bodyPr>
          <a:lstStyle/>
          <a:p>
            <a:pPr algn="l">
              <a:lnSpc>
                <a:spcPts val="2957"/>
              </a:lnSpc>
            </a:pPr>
            <a:r>
              <a:rPr lang="en-US" b="true" sz="2112" spc="-33">
                <a:solidFill>
                  <a:srgbClr val="FFF8F0"/>
                </a:solidFill>
                <a:latin typeface="Canva Sans Bold"/>
                <a:ea typeface="Canva Sans Bold"/>
                <a:cs typeface="Canva Sans Bold"/>
                <a:sym typeface="Canva Sans Bold"/>
              </a:rPr>
              <a:t>3</a:t>
            </a:r>
          </a:p>
        </p:txBody>
      </p:sp>
      <p:sp>
        <p:nvSpPr>
          <p:cNvPr name="TextBox 10" id="10"/>
          <p:cNvSpPr txBox="true"/>
          <p:nvPr/>
        </p:nvSpPr>
        <p:spPr>
          <a:xfrm rot="0">
            <a:off x="1307673" y="6446647"/>
            <a:ext cx="14759681" cy="3925967"/>
          </a:xfrm>
          <a:prstGeom prst="rect">
            <a:avLst/>
          </a:prstGeom>
        </p:spPr>
        <p:txBody>
          <a:bodyPr anchor="t" rtlCol="false" tIns="0" lIns="0" bIns="0" rIns="0">
            <a:spAutoFit/>
          </a:bodyPr>
          <a:lstStyle/>
          <a:p>
            <a:pPr algn="just" marL="709091" indent="-354545" lvl="1">
              <a:lnSpc>
                <a:spcPts val="4598"/>
              </a:lnSpc>
              <a:buFont typeface="Arial"/>
              <a:buChar char="•"/>
            </a:pPr>
            <a:r>
              <a:rPr lang="en-US" sz="3284" spc="32">
                <a:solidFill>
                  <a:srgbClr val="2B2E3C"/>
                </a:solidFill>
                <a:latin typeface="Canva Sans"/>
                <a:ea typeface="Canva Sans"/>
                <a:cs typeface="Canva Sans"/>
                <a:sym typeface="Canva Sans"/>
              </a:rPr>
              <a:t>Dataset description and Problem definition</a:t>
            </a:r>
          </a:p>
          <a:p>
            <a:pPr algn="just" marL="709091" indent="-354545" lvl="1">
              <a:lnSpc>
                <a:spcPts val="4598"/>
              </a:lnSpc>
              <a:buFont typeface="Arial"/>
              <a:buChar char="•"/>
            </a:pPr>
            <a:r>
              <a:rPr lang="en-US" sz="3284" spc="32">
                <a:solidFill>
                  <a:srgbClr val="2B2E3C"/>
                </a:solidFill>
                <a:latin typeface="Canva Sans"/>
                <a:ea typeface="Canva Sans"/>
                <a:cs typeface="Canva Sans"/>
                <a:sym typeface="Canva Sans"/>
              </a:rPr>
              <a:t>Data Preprocessing &amp; EDA</a:t>
            </a:r>
          </a:p>
          <a:p>
            <a:pPr algn="just" marL="709091" indent="-354545" lvl="1">
              <a:lnSpc>
                <a:spcPts val="4598"/>
              </a:lnSpc>
              <a:buFont typeface="Arial"/>
              <a:buChar char="•"/>
            </a:pPr>
            <a:r>
              <a:rPr lang="en-US" sz="3284" spc="32">
                <a:solidFill>
                  <a:srgbClr val="2B2E3C"/>
                </a:solidFill>
                <a:latin typeface="Canva Sans"/>
                <a:ea typeface="Canva Sans"/>
                <a:cs typeface="Canva Sans"/>
                <a:sym typeface="Canva Sans"/>
              </a:rPr>
              <a:t>Model Building  </a:t>
            </a:r>
          </a:p>
          <a:p>
            <a:pPr algn="just" marL="709091" indent="-354545" lvl="1">
              <a:lnSpc>
                <a:spcPts val="4598"/>
              </a:lnSpc>
              <a:buFont typeface="Arial"/>
              <a:buChar char="•"/>
            </a:pPr>
            <a:r>
              <a:rPr lang="en-US" sz="3284" spc="32">
                <a:solidFill>
                  <a:srgbClr val="2B2E3C"/>
                </a:solidFill>
                <a:latin typeface="Canva Sans"/>
                <a:ea typeface="Canva Sans"/>
                <a:cs typeface="Canva Sans"/>
                <a:sym typeface="Canva Sans"/>
              </a:rPr>
              <a:t>Model Evaluation</a:t>
            </a:r>
          </a:p>
          <a:p>
            <a:pPr algn="just" marL="709091" indent="-354545" lvl="1">
              <a:lnSpc>
                <a:spcPts val="4598"/>
              </a:lnSpc>
              <a:buFont typeface="Arial"/>
              <a:buChar char="•"/>
            </a:pPr>
            <a:r>
              <a:rPr lang="en-US" sz="3284" spc="32">
                <a:solidFill>
                  <a:srgbClr val="2B2E3C"/>
                </a:solidFill>
                <a:latin typeface="Canva Sans"/>
                <a:ea typeface="Canva Sans"/>
                <a:cs typeface="Canva Sans"/>
                <a:sym typeface="Canva Sans"/>
              </a:rPr>
              <a:t>Key Insights and Recommendations</a:t>
            </a:r>
          </a:p>
          <a:p>
            <a:pPr algn="just">
              <a:lnSpc>
                <a:spcPts val="4598"/>
              </a:lnSpc>
            </a:pPr>
          </a:p>
          <a:p>
            <a:pPr algn="l">
              <a:lnSpc>
                <a:spcPts val="3618"/>
              </a:lnSpc>
            </a:pPr>
          </a:p>
        </p:txBody>
      </p:sp>
      <p:sp>
        <p:nvSpPr>
          <p:cNvPr name="TextBox 11" id="11"/>
          <p:cNvSpPr txBox="true"/>
          <p:nvPr/>
        </p:nvSpPr>
        <p:spPr>
          <a:xfrm rot="0">
            <a:off x="1576992" y="5114932"/>
            <a:ext cx="14759681" cy="788433"/>
          </a:xfrm>
          <a:prstGeom prst="rect">
            <a:avLst/>
          </a:prstGeom>
        </p:spPr>
        <p:txBody>
          <a:bodyPr anchor="t" rtlCol="false" tIns="0" lIns="0" bIns="0" rIns="0">
            <a:spAutoFit/>
          </a:bodyPr>
          <a:lstStyle/>
          <a:p>
            <a:pPr algn="l">
              <a:lnSpc>
                <a:spcPts val="6418"/>
              </a:lnSpc>
            </a:pPr>
            <a:r>
              <a:rPr lang="en-US" b="true" sz="4584" spc="45">
                <a:solidFill>
                  <a:srgbClr val="2B2E3C"/>
                </a:solidFill>
                <a:latin typeface="Canva Sans Bold"/>
                <a:ea typeface="Canva Sans Bold"/>
                <a:cs typeface="Canva Sans Bold"/>
                <a:sym typeface="Canva Sans Bold"/>
              </a:rPr>
              <a:t>OVERVIEW STEPS</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383561" y="-206027"/>
            <a:ext cx="1412261" cy="10699054"/>
            <a:chOff x="0" y="0"/>
            <a:chExt cx="371953" cy="2817858"/>
          </a:xfrm>
        </p:grpSpPr>
        <p:sp>
          <p:nvSpPr>
            <p:cNvPr name="Freeform 3" id="3"/>
            <p:cNvSpPr/>
            <p:nvPr/>
          </p:nvSpPr>
          <p:spPr>
            <a:xfrm flipH="false" flipV="false" rot="0">
              <a:off x="0" y="0"/>
              <a:ext cx="371953" cy="2817858"/>
            </a:xfrm>
            <a:custGeom>
              <a:avLst/>
              <a:gdLst/>
              <a:ahLst/>
              <a:cxnLst/>
              <a:rect r="r" b="b" t="t" l="l"/>
              <a:pathLst>
                <a:path h="2817858" w="371953">
                  <a:moveTo>
                    <a:pt x="0" y="0"/>
                  </a:moveTo>
                  <a:lnTo>
                    <a:pt x="371953" y="0"/>
                  </a:lnTo>
                  <a:lnTo>
                    <a:pt x="371953" y="2817858"/>
                  </a:lnTo>
                  <a:lnTo>
                    <a:pt x="0" y="2817858"/>
                  </a:lnTo>
                  <a:close/>
                </a:path>
              </a:pathLst>
            </a:custGeom>
            <a:solidFill>
              <a:srgbClr val="56A1A8"/>
            </a:solidFill>
          </p:spPr>
        </p:sp>
        <p:sp>
          <p:nvSpPr>
            <p:cNvPr name="TextBox 4" id="4"/>
            <p:cNvSpPr txBox="true"/>
            <p:nvPr/>
          </p:nvSpPr>
          <p:spPr>
            <a:xfrm>
              <a:off x="0" y="-28575"/>
              <a:ext cx="371953" cy="2846433"/>
            </a:xfrm>
            <a:prstGeom prst="rect">
              <a:avLst/>
            </a:prstGeom>
          </p:spPr>
          <p:txBody>
            <a:bodyPr anchor="ctr" rtlCol="false" tIns="50800" lIns="50800" bIns="50800" rIns="50800"/>
            <a:lstStyle/>
            <a:p>
              <a:pPr algn="ctr">
                <a:lnSpc>
                  <a:spcPts val="2366"/>
                </a:lnSpc>
              </a:pPr>
            </a:p>
          </p:txBody>
        </p:sp>
      </p:grpSp>
      <p:sp>
        <p:nvSpPr>
          <p:cNvPr name="TextBox 5" id="5"/>
          <p:cNvSpPr txBox="true"/>
          <p:nvPr/>
        </p:nvSpPr>
        <p:spPr>
          <a:xfrm rot="0">
            <a:off x="6728368" y="4519776"/>
            <a:ext cx="405155" cy="355913"/>
          </a:xfrm>
          <a:prstGeom prst="rect">
            <a:avLst/>
          </a:prstGeom>
        </p:spPr>
        <p:txBody>
          <a:bodyPr anchor="t" rtlCol="false" tIns="0" lIns="0" bIns="0" rIns="0">
            <a:spAutoFit/>
          </a:bodyPr>
          <a:lstStyle/>
          <a:p>
            <a:pPr algn="l">
              <a:lnSpc>
                <a:spcPts val="2957"/>
              </a:lnSpc>
            </a:pPr>
            <a:r>
              <a:rPr lang="en-US" b="true" sz="2112" spc="-33">
                <a:solidFill>
                  <a:srgbClr val="FFF8F0"/>
                </a:solidFill>
                <a:latin typeface="Canva Sans Bold"/>
                <a:ea typeface="Canva Sans Bold"/>
                <a:cs typeface="Canva Sans Bold"/>
                <a:sym typeface="Canva Sans Bold"/>
              </a:rPr>
              <a:t>1</a:t>
            </a:r>
          </a:p>
        </p:txBody>
      </p:sp>
      <p:sp>
        <p:nvSpPr>
          <p:cNvPr name="TextBox 6" id="6"/>
          <p:cNvSpPr txBox="true"/>
          <p:nvPr/>
        </p:nvSpPr>
        <p:spPr>
          <a:xfrm rot="0">
            <a:off x="6728368" y="5865265"/>
            <a:ext cx="405155" cy="355913"/>
          </a:xfrm>
          <a:prstGeom prst="rect">
            <a:avLst/>
          </a:prstGeom>
        </p:spPr>
        <p:txBody>
          <a:bodyPr anchor="t" rtlCol="false" tIns="0" lIns="0" bIns="0" rIns="0">
            <a:spAutoFit/>
          </a:bodyPr>
          <a:lstStyle/>
          <a:p>
            <a:pPr algn="l">
              <a:lnSpc>
                <a:spcPts val="2957"/>
              </a:lnSpc>
            </a:pPr>
            <a:r>
              <a:rPr lang="en-US" b="true" sz="2112" spc="-33">
                <a:solidFill>
                  <a:srgbClr val="FFF8F0"/>
                </a:solidFill>
                <a:latin typeface="Canva Sans Bold"/>
                <a:ea typeface="Canva Sans Bold"/>
                <a:cs typeface="Canva Sans Bold"/>
                <a:sym typeface="Canva Sans Bold"/>
              </a:rPr>
              <a:t>2</a:t>
            </a:r>
          </a:p>
        </p:txBody>
      </p:sp>
      <p:sp>
        <p:nvSpPr>
          <p:cNvPr name="TextBox 7" id="7"/>
          <p:cNvSpPr txBox="true"/>
          <p:nvPr/>
        </p:nvSpPr>
        <p:spPr>
          <a:xfrm rot="0">
            <a:off x="1307673" y="2533890"/>
            <a:ext cx="16363776" cy="6643768"/>
          </a:xfrm>
          <a:prstGeom prst="rect">
            <a:avLst/>
          </a:prstGeom>
        </p:spPr>
        <p:txBody>
          <a:bodyPr anchor="t" rtlCol="false" tIns="0" lIns="0" bIns="0" rIns="0">
            <a:spAutoFit/>
          </a:bodyPr>
          <a:lstStyle/>
          <a:p>
            <a:pPr algn="just" marL="687501" indent="-343751" lvl="1">
              <a:lnSpc>
                <a:spcPts val="4458"/>
              </a:lnSpc>
              <a:buFont typeface="Arial"/>
              <a:buChar char="•"/>
            </a:pPr>
            <a:r>
              <a:rPr lang="en-US" sz="3184" spc="31">
                <a:solidFill>
                  <a:srgbClr val="2B2E3C"/>
                </a:solidFill>
                <a:latin typeface="Canva Sans"/>
                <a:ea typeface="Canva Sans"/>
                <a:cs typeface="Canva Sans"/>
                <a:sym typeface="Canva Sans"/>
              </a:rPr>
              <a:t>The dataset contains information regarding customer transaction using credit cards to identify fraudulent and non-fraudulent transactions.</a:t>
            </a:r>
          </a:p>
          <a:p>
            <a:pPr algn="just">
              <a:lnSpc>
                <a:spcPts val="4458"/>
              </a:lnSpc>
            </a:pPr>
          </a:p>
          <a:p>
            <a:pPr algn="just" marL="687501" indent="-343751" lvl="1">
              <a:lnSpc>
                <a:spcPts val="4458"/>
              </a:lnSpc>
              <a:buFont typeface="Arial"/>
              <a:buChar char="•"/>
            </a:pPr>
            <a:r>
              <a:rPr lang="en-US" b="true" sz="3184" spc="31">
                <a:solidFill>
                  <a:srgbClr val="2B2E3C"/>
                </a:solidFill>
                <a:latin typeface="Canva Sans Bold"/>
                <a:ea typeface="Canva Sans Bold"/>
                <a:cs typeface="Canva Sans Bold"/>
                <a:sym typeface="Canva Sans Bold"/>
              </a:rPr>
              <a:t>Number of records:</a:t>
            </a:r>
            <a:r>
              <a:rPr lang="en-US" sz="3184" spc="31">
                <a:solidFill>
                  <a:srgbClr val="2B2E3C"/>
                </a:solidFill>
                <a:latin typeface="Canva Sans"/>
                <a:ea typeface="Canva Sans"/>
                <a:cs typeface="Canva Sans"/>
                <a:sym typeface="Canva Sans"/>
              </a:rPr>
              <a:t> 50,000</a:t>
            </a:r>
          </a:p>
          <a:p>
            <a:pPr algn="just" marL="665912" indent="-332956" lvl="1">
              <a:lnSpc>
                <a:spcPts val="4318"/>
              </a:lnSpc>
              <a:buFont typeface="Arial"/>
              <a:buChar char="•"/>
            </a:pPr>
            <a:r>
              <a:rPr lang="en-US" b="true" sz="3084" spc="30">
                <a:solidFill>
                  <a:srgbClr val="2B2E3C"/>
                </a:solidFill>
                <a:latin typeface="Canva Sans Bold"/>
                <a:ea typeface="Canva Sans Bold"/>
                <a:cs typeface="Canva Sans Bold"/>
                <a:sym typeface="Canva Sans Bold"/>
              </a:rPr>
              <a:t>Features:</a:t>
            </a:r>
            <a:r>
              <a:rPr lang="en-US" sz="3084" spc="30">
                <a:solidFill>
                  <a:srgbClr val="2B2E3C"/>
                </a:solidFill>
                <a:latin typeface="Canva Sans"/>
                <a:ea typeface="Canva Sans"/>
                <a:cs typeface="Canva Sans"/>
                <a:sym typeface="Canva Sans"/>
              </a:rPr>
              <a:t> 10 transaction-related variables such as transaction amount, transaction hour, merchant category, card type, card present, distance from home, transactions in last 24hrs, average transaction amt, and no of times declined.</a:t>
            </a:r>
          </a:p>
          <a:p>
            <a:pPr algn="just" marL="687501" indent="-343751" lvl="1">
              <a:lnSpc>
                <a:spcPts val="4458"/>
              </a:lnSpc>
              <a:buFont typeface="Arial"/>
              <a:buChar char="•"/>
            </a:pPr>
            <a:r>
              <a:rPr lang="en-US" b="true" sz="3184" spc="31">
                <a:solidFill>
                  <a:srgbClr val="2B2E3C"/>
                </a:solidFill>
                <a:latin typeface="Canva Sans Bold"/>
                <a:ea typeface="Canva Sans Bold"/>
                <a:cs typeface="Canva Sans Bold"/>
                <a:sym typeface="Canva Sans Bold"/>
              </a:rPr>
              <a:t>Target variable: </a:t>
            </a:r>
            <a:r>
              <a:rPr lang="en-US" sz="3184" spc="31">
                <a:solidFill>
                  <a:srgbClr val="2B2E3C"/>
                </a:solidFill>
                <a:latin typeface="Canva Sans"/>
                <a:ea typeface="Canva Sans"/>
                <a:cs typeface="Canva Sans"/>
                <a:sym typeface="Canva Sans"/>
              </a:rPr>
              <a:t>is_fraud (Binary: 1= Transaction is fraudulent,0=Transaction not fraudulent)</a:t>
            </a:r>
          </a:p>
          <a:p>
            <a:pPr algn="just">
              <a:lnSpc>
                <a:spcPts val="4458"/>
              </a:lnSpc>
            </a:pPr>
          </a:p>
          <a:p>
            <a:pPr algn="l" marL="687501" indent="-343751" lvl="1">
              <a:lnSpc>
                <a:spcPts val="4458"/>
              </a:lnSpc>
              <a:buFont typeface="Arial"/>
              <a:buChar char="•"/>
            </a:pPr>
            <a:r>
              <a:rPr lang="en-US" b="true" sz="3184" spc="31">
                <a:solidFill>
                  <a:srgbClr val="2B2E3C"/>
                </a:solidFill>
                <a:latin typeface="Canva Sans Bold"/>
                <a:ea typeface="Canva Sans Bold"/>
                <a:cs typeface="Canva Sans Bold"/>
                <a:sym typeface="Canva Sans Bold"/>
              </a:rPr>
              <a:t>Dataset source: </a:t>
            </a:r>
            <a:r>
              <a:rPr lang="en-US" sz="3184" spc="31">
                <a:solidFill>
                  <a:srgbClr val="2B2E3C"/>
                </a:solidFill>
                <a:latin typeface="Canva Sans"/>
                <a:ea typeface="Canva Sans"/>
                <a:cs typeface="Canva Sans"/>
                <a:sym typeface="Canva Sans"/>
              </a:rPr>
              <a:t>Kaggle</a:t>
            </a:r>
          </a:p>
        </p:txBody>
      </p:sp>
      <p:sp>
        <p:nvSpPr>
          <p:cNvPr name="TextBox 8" id="8"/>
          <p:cNvSpPr txBox="true"/>
          <p:nvPr/>
        </p:nvSpPr>
        <p:spPr>
          <a:xfrm rot="0">
            <a:off x="1576992" y="1066800"/>
            <a:ext cx="10707907" cy="1005126"/>
          </a:xfrm>
          <a:prstGeom prst="rect">
            <a:avLst/>
          </a:prstGeom>
        </p:spPr>
        <p:txBody>
          <a:bodyPr anchor="t" rtlCol="false" tIns="0" lIns="0" bIns="0" rIns="0">
            <a:spAutoFit/>
          </a:bodyPr>
          <a:lstStyle/>
          <a:p>
            <a:pPr algn="l">
              <a:lnSpc>
                <a:spcPts val="7873"/>
              </a:lnSpc>
            </a:pPr>
            <a:r>
              <a:rPr lang="en-US" b="true" sz="6906" spc="-151">
                <a:solidFill>
                  <a:srgbClr val="000000"/>
                </a:solidFill>
                <a:latin typeface="Canva Sans Bold"/>
                <a:ea typeface="Canva Sans Bold"/>
                <a:cs typeface="Canva Sans Bold"/>
                <a:sym typeface="Canva Sans Bold"/>
              </a:rPr>
              <a:t>DATASET DESCRIPTION</a:t>
            </a:r>
          </a:p>
        </p:txBody>
      </p:sp>
      <p:sp>
        <p:nvSpPr>
          <p:cNvPr name="TextBox 9" id="9"/>
          <p:cNvSpPr txBox="true"/>
          <p:nvPr/>
        </p:nvSpPr>
        <p:spPr>
          <a:xfrm rot="0">
            <a:off x="6728368" y="7210754"/>
            <a:ext cx="405155" cy="355913"/>
          </a:xfrm>
          <a:prstGeom prst="rect">
            <a:avLst/>
          </a:prstGeom>
        </p:spPr>
        <p:txBody>
          <a:bodyPr anchor="t" rtlCol="false" tIns="0" lIns="0" bIns="0" rIns="0">
            <a:spAutoFit/>
          </a:bodyPr>
          <a:lstStyle/>
          <a:p>
            <a:pPr algn="l">
              <a:lnSpc>
                <a:spcPts val="2957"/>
              </a:lnSpc>
            </a:pPr>
            <a:r>
              <a:rPr lang="en-US" b="true" sz="2112" spc="-33">
                <a:solidFill>
                  <a:srgbClr val="FFF8F0"/>
                </a:solidFill>
                <a:latin typeface="Canva Sans Bold"/>
                <a:ea typeface="Canva Sans Bold"/>
                <a:cs typeface="Canva Sans Bold"/>
                <a:sym typeface="Canva Sans Bold"/>
              </a:rPr>
              <a:t>3</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383561" y="-206027"/>
            <a:ext cx="1412261" cy="10699054"/>
            <a:chOff x="0" y="0"/>
            <a:chExt cx="371953" cy="2817858"/>
          </a:xfrm>
        </p:grpSpPr>
        <p:sp>
          <p:nvSpPr>
            <p:cNvPr name="Freeform 3" id="3"/>
            <p:cNvSpPr/>
            <p:nvPr/>
          </p:nvSpPr>
          <p:spPr>
            <a:xfrm flipH="false" flipV="false" rot="0">
              <a:off x="0" y="0"/>
              <a:ext cx="371953" cy="2817858"/>
            </a:xfrm>
            <a:custGeom>
              <a:avLst/>
              <a:gdLst/>
              <a:ahLst/>
              <a:cxnLst/>
              <a:rect r="r" b="b" t="t" l="l"/>
              <a:pathLst>
                <a:path h="2817858" w="371953">
                  <a:moveTo>
                    <a:pt x="0" y="0"/>
                  </a:moveTo>
                  <a:lnTo>
                    <a:pt x="371953" y="0"/>
                  </a:lnTo>
                  <a:lnTo>
                    <a:pt x="371953" y="2817858"/>
                  </a:lnTo>
                  <a:lnTo>
                    <a:pt x="0" y="2817858"/>
                  </a:lnTo>
                  <a:close/>
                </a:path>
              </a:pathLst>
            </a:custGeom>
            <a:solidFill>
              <a:srgbClr val="56A1A8"/>
            </a:solidFill>
          </p:spPr>
        </p:sp>
        <p:sp>
          <p:nvSpPr>
            <p:cNvPr name="TextBox 4" id="4"/>
            <p:cNvSpPr txBox="true"/>
            <p:nvPr/>
          </p:nvSpPr>
          <p:spPr>
            <a:xfrm>
              <a:off x="0" y="-28575"/>
              <a:ext cx="371953" cy="2846433"/>
            </a:xfrm>
            <a:prstGeom prst="rect">
              <a:avLst/>
            </a:prstGeom>
          </p:spPr>
          <p:txBody>
            <a:bodyPr anchor="ctr" rtlCol="false" tIns="50800" lIns="50800" bIns="50800" rIns="50800"/>
            <a:lstStyle/>
            <a:p>
              <a:pPr algn="ctr">
                <a:lnSpc>
                  <a:spcPts val="2366"/>
                </a:lnSpc>
              </a:pPr>
            </a:p>
          </p:txBody>
        </p:sp>
      </p:grpSp>
      <p:sp>
        <p:nvSpPr>
          <p:cNvPr name="TextBox 5" id="5"/>
          <p:cNvSpPr txBox="true"/>
          <p:nvPr/>
        </p:nvSpPr>
        <p:spPr>
          <a:xfrm rot="0">
            <a:off x="6728368" y="4519776"/>
            <a:ext cx="405155" cy="355913"/>
          </a:xfrm>
          <a:prstGeom prst="rect">
            <a:avLst/>
          </a:prstGeom>
        </p:spPr>
        <p:txBody>
          <a:bodyPr anchor="t" rtlCol="false" tIns="0" lIns="0" bIns="0" rIns="0">
            <a:spAutoFit/>
          </a:bodyPr>
          <a:lstStyle/>
          <a:p>
            <a:pPr algn="l">
              <a:lnSpc>
                <a:spcPts val="2957"/>
              </a:lnSpc>
            </a:pPr>
            <a:r>
              <a:rPr lang="en-US" b="true" sz="2112" spc="-33">
                <a:solidFill>
                  <a:srgbClr val="FFF8F0"/>
                </a:solidFill>
                <a:latin typeface="Canva Sans Bold"/>
                <a:ea typeface="Canva Sans Bold"/>
                <a:cs typeface="Canva Sans Bold"/>
                <a:sym typeface="Canva Sans Bold"/>
              </a:rPr>
              <a:t>1</a:t>
            </a:r>
          </a:p>
        </p:txBody>
      </p:sp>
      <p:sp>
        <p:nvSpPr>
          <p:cNvPr name="TextBox 6" id="6"/>
          <p:cNvSpPr txBox="true"/>
          <p:nvPr/>
        </p:nvSpPr>
        <p:spPr>
          <a:xfrm rot="0">
            <a:off x="6728368" y="5865265"/>
            <a:ext cx="405155" cy="355913"/>
          </a:xfrm>
          <a:prstGeom prst="rect">
            <a:avLst/>
          </a:prstGeom>
        </p:spPr>
        <p:txBody>
          <a:bodyPr anchor="t" rtlCol="false" tIns="0" lIns="0" bIns="0" rIns="0">
            <a:spAutoFit/>
          </a:bodyPr>
          <a:lstStyle/>
          <a:p>
            <a:pPr algn="l">
              <a:lnSpc>
                <a:spcPts val="2957"/>
              </a:lnSpc>
            </a:pPr>
            <a:r>
              <a:rPr lang="en-US" b="true" sz="2112" spc="-33">
                <a:solidFill>
                  <a:srgbClr val="FFF8F0"/>
                </a:solidFill>
                <a:latin typeface="Canva Sans Bold"/>
                <a:ea typeface="Canva Sans Bold"/>
                <a:cs typeface="Canva Sans Bold"/>
                <a:sym typeface="Canva Sans Bold"/>
              </a:rPr>
              <a:t>2</a:t>
            </a:r>
          </a:p>
        </p:txBody>
      </p:sp>
      <p:sp>
        <p:nvSpPr>
          <p:cNvPr name="TextBox 7" id="7"/>
          <p:cNvSpPr txBox="true"/>
          <p:nvPr/>
        </p:nvSpPr>
        <p:spPr>
          <a:xfrm rot="0">
            <a:off x="1628004" y="3376771"/>
            <a:ext cx="15951627" cy="1607422"/>
          </a:xfrm>
          <a:prstGeom prst="rect">
            <a:avLst/>
          </a:prstGeom>
        </p:spPr>
        <p:txBody>
          <a:bodyPr anchor="t" rtlCol="false" tIns="0" lIns="0" bIns="0" rIns="0">
            <a:spAutoFit/>
          </a:bodyPr>
          <a:lstStyle/>
          <a:p>
            <a:pPr algn="just">
              <a:lnSpc>
                <a:spcPts val="4326"/>
              </a:lnSpc>
            </a:pPr>
            <a:r>
              <a:rPr lang="en-US" sz="3090" spc="30">
                <a:solidFill>
                  <a:srgbClr val="2B2E3C"/>
                </a:solidFill>
                <a:latin typeface="Canva Sans"/>
                <a:ea typeface="Canva Sans"/>
                <a:cs typeface="Canva Sans"/>
                <a:sym typeface="Canva Sans"/>
              </a:rPr>
              <a:t>Credit card fraud causes significant financial losses for banks, customers, and financial institutions. Detecting fraudulent transactions quickly and accurately is essential to reduce financial risk and improve transaction security.</a:t>
            </a:r>
          </a:p>
        </p:txBody>
      </p:sp>
      <p:sp>
        <p:nvSpPr>
          <p:cNvPr name="TextBox 8" id="8"/>
          <p:cNvSpPr txBox="true"/>
          <p:nvPr/>
        </p:nvSpPr>
        <p:spPr>
          <a:xfrm rot="0">
            <a:off x="1628004" y="985839"/>
            <a:ext cx="15031992" cy="964740"/>
          </a:xfrm>
          <a:prstGeom prst="rect">
            <a:avLst/>
          </a:prstGeom>
        </p:spPr>
        <p:txBody>
          <a:bodyPr anchor="t" rtlCol="false" tIns="0" lIns="0" bIns="0" rIns="0">
            <a:spAutoFit/>
          </a:bodyPr>
          <a:lstStyle/>
          <a:p>
            <a:pPr algn="l">
              <a:lnSpc>
                <a:spcPts val="7531"/>
              </a:lnSpc>
            </a:pPr>
            <a:r>
              <a:rPr lang="en-US" b="true" sz="6606" spc="-145">
                <a:solidFill>
                  <a:srgbClr val="000000"/>
                </a:solidFill>
                <a:latin typeface="Canva Sans Bold"/>
                <a:ea typeface="Canva Sans Bold"/>
                <a:cs typeface="Canva Sans Bold"/>
                <a:sym typeface="Canva Sans Bold"/>
              </a:rPr>
              <a:t>UNDERSTANDING THE PROBLEM</a:t>
            </a:r>
          </a:p>
        </p:txBody>
      </p:sp>
      <p:sp>
        <p:nvSpPr>
          <p:cNvPr name="TextBox 9" id="9"/>
          <p:cNvSpPr txBox="true"/>
          <p:nvPr/>
        </p:nvSpPr>
        <p:spPr>
          <a:xfrm rot="0">
            <a:off x="6728368" y="7210754"/>
            <a:ext cx="405155" cy="355913"/>
          </a:xfrm>
          <a:prstGeom prst="rect">
            <a:avLst/>
          </a:prstGeom>
        </p:spPr>
        <p:txBody>
          <a:bodyPr anchor="t" rtlCol="false" tIns="0" lIns="0" bIns="0" rIns="0">
            <a:spAutoFit/>
          </a:bodyPr>
          <a:lstStyle/>
          <a:p>
            <a:pPr algn="l">
              <a:lnSpc>
                <a:spcPts val="2957"/>
              </a:lnSpc>
            </a:pPr>
            <a:r>
              <a:rPr lang="en-US" b="true" sz="2112" spc="-33">
                <a:solidFill>
                  <a:srgbClr val="FFF8F0"/>
                </a:solidFill>
                <a:latin typeface="Canva Sans Bold"/>
                <a:ea typeface="Canva Sans Bold"/>
                <a:cs typeface="Canva Sans Bold"/>
                <a:sym typeface="Canva Sans Bold"/>
              </a:rPr>
              <a:t>3</a:t>
            </a:r>
          </a:p>
        </p:txBody>
      </p:sp>
      <p:sp>
        <p:nvSpPr>
          <p:cNvPr name="TextBox 10" id="10"/>
          <p:cNvSpPr txBox="true"/>
          <p:nvPr/>
        </p:nvSpPr>
        <p:spPr>
          <a:xfrm rot="0">
            <a:off x="1307673" y="6446647"/>
            <a:ext cx="14759681" cy="3344942"/>
          </a:xfrm>
          <a:prstGeom prst="rect">
            <a:avLst/>
          </a:prstGeom>
        </p:spPr>
        <p:txBody>
          <a:bodyPr anchor="t" rtlCol="false" tIns="0" lIns="0" bIns="0" rIns="0">
            <a:spAutoFit/>
          </a:bodyPr>
          <a:lstStyle/>
          <a:p>
            <a:pPr algn="just" marL="709091" indent="-354545" lvl="1">
              <a:lnSpc>
                <a:spcPts val="4598"/>
              </a:lnSpc>
              <a:buFont typeface="Arial"/>
              <a:buChar char="•"/>
            </a:pPr>
            <a:r>
              <a:rPr lang="en-US" sz="3284" spc="32">
                <a:solidFill>
                  <a:srgbClr val="2B2E3C"/>
                </a:solidFill>
                <a:latin typeface="Canva Sans"/>
                <a:ea typeface="Canva Sans"/>
                <a:cs typeface="Canva Sans"/>
                <a:sym typeface="Canva Sans"/>
              </a:rPr>
              <a:t>Helps banks prevent financial losses.</a:t>
            </a:r>
          </a:p>
          <a:p>
            <a:pPr algn="just" marL="709091" indent="-354545" lvl="1">
              <a:lnSpc>
                <a:spcPts val="4598"/>
              </a:lnSpc>
              <a:buFont typeface="Arial"/>
              <a:buChar char="•"/>
            </a:pPr>
            <a:r>
              <a:rPr lang="en-US" sz="3284" spc="32">
                <a:solidFill>
                  <a:srgbClr val="2B2E3C"/>
                </a:solidFill>
                <a:latin typeface="Canva Sans"/>
                <a:ea typeface="Canva Sans"/>
                <a:cs typeface="Canva Sans"/>
                <a:sym typeface="Canva Sans"/>
              </a:rPr>
              <a:t>Protects customers from unauthorized transactions.</a:t>
            </a:r>
          </a:p>
          <a:p>
            <a:pPr algn="just" marL="709091" indent="-354545" lvl="1">
              <a:lnSpc>
                <a:spcPts val="4598"/>
              </a:lnSpc>
              <a:buFont typeface="Arial"/>
              <a:buChar char="•"/>
            </a:pPr>
            <a:r>
              <a:rPr lang="en-US" sz="3284" spc="32">
                <a:solidFill>
                  <a:srgbClr val="2B2E3C"/>
                </a:solidFill>
                <a:latin typeface="Canva Sans"/>
                <a:ea typeface="Canva Sans"/>
                <a:cs typeface="Canva Sans"/>
                <a:sym typeface="Canva Sans"/>
              </a:rPr>
              <a:t>Improves transaction monitoring systems.</a:t>
            </a:r>
          </a:p>
          <a:p>
            <a:pPr algn="just" marL="709091" indent="-354545" lvl="1">
              <a:lnSpc>
                <a:spcPts val="4598"/>
              </a:lnSpc>
              <a:buFont typeface="Arial"/>
              <a:buChar char="•"/>
            </a:pPr>
            <a:r>
              <a:rPr lang="en-US" sz="3284" spc="32">
                <a:solidFill>
                  <a:srgbClr val="2B2E3C"/>
                </a:solidFill>
                <a:latin typeface="Canva Sans"/>
                <a:ea typeface="Canva Sans"/>
                <a:cs typeface="Canva Sans"/>
                <a:sym typeface="Canva Sans"/>
              </a:rPr>
              <a:t>Supports real-time fraud detection.</a:t>
            </a:r>
          </a:p>
          <a:p>
            <a:pPr algn="just" marL="709091" indent="-354545" lvl="1">
              <a:lnSpc>
                <a:spcPts val="4598"/>
              </a:lnSpc>
              <a:buFont typeface="Arial"/>
              <a:buChar char="•"/>
            </a:pPr>
            <a:r>
              <a:rPr lang="en-US" sz="3284" spc="32">
                <a:solidFill>
                  <a:srgbClr val="2B2E3C"/>
                </a:solidFill>
                <a:latin typeface="Canva Sans"/>
                <a:ea typeface="Canva Sans"/>
                <a:cs typeface="Canva Sans"/>
                <a:sym typeface="Canva Sans"/>
              </a:rPr>
              <a:t>Reduces operational and investigation costs.</a:t>
            </a:r>
          </a:p>
          <a:p>
            <a:pPr algn="l">
              <a:lnSpc>
                <a:spcPts val="3618"/>
              </a:lnSpc>
            </a:pPr>
          </a:p>
        </p:txBody>
      </p:sp>
      <p:sp>
        <p:nvSpPr>
          <p:cNvPr name="TextBox 11" id="11"/>
          <p:cNvSpPr txBox="true"/>
          <p:nvPr/>
        </p:nvSpPr>
        <p:spPr>
          <a:xfrm rot="0">
            <a:off x="1628004" y="2268933"/>
            <a:ext cx="14759681" cy="755413"/>
          </a:xfrm>
          <a:prstGeom prst="rect">
            <a:avLst/>
          </a:prstGeom>
        </p:spPr>
        <p:txBody>
          <a:bodyPr anchor="t" rtlCol="false" tIns="0" lIns="0" bIns="0" rIns="0">
            <a:spAutoFit/>
          </a:bodyPr>
          <a:lstStyle/>
          <a:p>
            <a:pPr algn="l">
              <a:lnSpc>
                <a:spcPts val="6138"/>
              </a:lnSpc>
            </a:pPr>
            <a:r>
              <a:rPr lang="en-US" b="true" sz="4384" spc="43" u="sng">
                <a:solidFill>
                  <a:srgbClr val="2B2E3C"/>
                </a:solidFill>
                <a:latin typeface="Canva Sans Bold"/>
                <a:ea typeface="Canva Sans Bold"/>
                <a:cs typeface="Canva Sans Bold"/>
                <a:sym typeface="Canva Sans Bold"/>
              </a:rPr>
              <a:t>Problem definition</a:t>
            </a:r>
          </a:p>
        </p:txBody>
      </p:sp>
      <p:sp>
        <p:nvSpPr>
          <p:cNvPr name="TextBox 12" id="12"/>
          <p:cNvSpPr txBox="true"/>
          <p:nvPr/>
        </p:nvSpPr>
        <p:spPr>
          <a:xfrm rot="0">
            <a:off x="1628004" y="5484815"/>
            <a:ext cx="14759681" cy="719853"/>
          </a:xfrm>
          <a:prstGeom prst="rect">
            <a:avLst/>
          </a:prstGeom>
        </p:spPr>
        <p:txBody>
          <a:bodyPr anchor="t" rtlCol="false" tIns="0" lIns="0" bIns="0" rIns="0">
            <a:spAutoFit/>
          </a:bodyPr>
          <a:lstStyle/>
          <a:p>
            <a:pPr algn="l">
              <a:lnSpc>
                <a:spcPts val="5998"/>
              </a:lnSpc>
            </a:pPr>
            <a:r>
              <a:rPr lang="en-US" b="true" sz="4284" spc="42" u="sng">
                <a:solidFill>
                  <a:srgbClr val="2B2E3C"/>
                </a:solidFill>
                <a:latin typeface="Canva Sans Bold"/>
                <a:ea typeface="Canva Sans Bold"/>
                <a:cs typeface="Canva Sans Bold"/>
                <a:sym typeface="Canva Sans Bold"/>
              </a:rPr>
              <a:t>Importance</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383561" y="-206027"/>
            <a:ext cx="1412261" cy="10699054"/>
            <a:chOff x="0" y="0"/>
            <a:chExt cx="371953" cy="2817858"/>
          </a:xfrm>
        </p:grpSpPr>
        <p:sp>
          <p:nvSpPr>
            <p:cNvPr name="Freeform 3" id="3"/>
            <p:cNvSpPr/>
            <p:nvPr/>
          </p:nvSpPr>
          <p:spPr>
            <a:xfrm flipH="false" flipV="false" rot="0">
              <a:off x="0" y="0"/>
              <a:ext cx="371953" cy="2817858"/>
            </a:xfrm>
            <a:custGeom>
              <a:avLst/>
              <a:gdLst/>
              <a:ahLst/>
              <a:cxnLst/>
              <a:rect r="r" b="b" t="t" l="l"/>
              <a:pathLst>
                <a:path h="2817858" w="371953">
                  <a:moveTo>
                    <a:pt x="0" y="0"/>
                  </a:moveTo>
                  <a:lnTo>
                    <a:pt x="371953" y="0"/>
                  </a:lnTo>
                  <a:lnTo>
                    <a:pt x="371953" y="2817858"/>
                  </a:lnTo>
                  <a:lnTo>
                    <a:pt x="0" y="2817858"/>
                  </a:lnTo>
                  <a:close/>
                </a:path>
              </a:pathLst>
            </a:custGeom>
            <a:solidFill>
              <a:srgbClr val="56A1A8"/>
            </a:solidFill>
          </p:spPr>
        </p:sp>
        <p:sp>
          <p:nvSpPr>
            <p:cNvPr name="TextBox 4" id="4"/>
            <p:cNvSpPr txBox="true"/>
            <p:nvPr/>
          </p:nvSpPr>
          <p:spPr>
            <a:xfrm>
              <a:off x="0" y="-28575"/>
              <a:ext cx="371953" cy="2846433"/>
            </a:xfrm>
            <a:prstGeom prst="rect">
              <a:avLst/>
            </a:prstGeom>
          </p:spPr>
          <p:txBody>
            <a:bodyPr anchor="ctr" rtlCol="false" tIns="50800" lIns="50800" bIns="50800" rIns="50800"/>
            <a:lstStyle/>
            <a:p>
              <a:pPr algn="ctr">
                <a:lnSpc>
                  <a:spcPts val="2366"/>
                </a:lnSpc>
              </a:pPr>
            </a:p>
          </p:txBody>
        </p:sp>
      </p:grpSp>
      <p:sp>
        <p:nvSpPr>
          <p:cNvPr name="TextBox 5" id="5"/>
          <p:cNvSpPr txBox="true"/>
          <p:nvPr/>
        </p:nvSpPr>
        <p:spPr>
          <a:xfrm rot="0">
            <a:off x="6728368" y="4519776"/>
            <a:ext cx="405155" cy="355913"/>
          </a:xfrm>
          <a:prstGeom prst="rect">
            <a:avLst/>
          </a:prstGeom>
        </p:spPr>
        <p:txBody>
          <a:bodyPr anchor="t" rtlCol="false" tIns="0" lIns="0" bIns="0" rIns="0">
            <a:spAutoFit/>
          </a:bodyPr>
          <a:lstStyle/>
          <a:p>
            <a:pPr algn="l">
              <a:lnSpc>
                <a:spcPts val="2957"/>
              </a:lnSpc>
            </a:pPr>
            <a:r>
              <a:rPr lang="en-US" b="true" sz="2112" spc="-33">
                <a:solidFill>
                  <a:srgbClr val="FFF8F0"/>
                </a:solidFill>
                <a:latin typeface="Canva Sans Bold"/>
                <a:ea typeface="Canva Sans Bold"/>
                <a:cs typeface="Canva Sans Bold"/>
                <a:sym typeface="Canva Sans Bold"/>
              </a:rPr>
              <a:t>1</a:t>
            </a:r>
          </a:p>
        </p:txBody>
      </p:sp>
      <p:sp>
        <p:nvSpPr>
          <p:cNvPr name="TextBox 6" id="6"/>
          <p:cNvSpPr txBox="true"/>
          <p:nvPr/>
        </p:nvSpPr>
        <p:spPr>
          <a:xfrm rot="0">
            <a:off x="6728368" y="5865265"/>
            <a:ext cx="405155" cy="355913"/>
          </a:xfrm>
          <a:prstGeom prst="rect">
            <a:avLst/>
          </a:prstGeom>
        </p:spPr>
        <p:txBody>
          <a:bodyPr anchor="t" rtlCol="false" tIns="0" lIns="0" bIns="0" rIns="0">
            <a:spAutoFit/>
          </a:bodyPr>
          <a:lstStyle/>
          <a:p>
            <a:pPr algn="l">
              <a:lnSpc>
                <a:spcPts val="2957"/>
              </a:lnSpc>
            </a:pPr>
            <a:r>
              <a:rPr lang="en-US" b="true" sz="2112" spc="-33">
                <a:solidFill>
                  <a:srgbClr val="FFF8F0"/>
                </a:solidFill>
                <a:latin typeface="Canva Sans Bold"/>
                <a:ea typeface="Canva Sans Bold"/>
                <a:cs typeface="Canva Sans Bold"/>
                <a:sym typeface="Canva Sans Bold"/>
              </a:rPr>
              <a:t>2</a:t>
            </a:r>
          </a:p>
        </p:txBody>
      </p:sp>
      <p:sp>
        <p:nvSpPr>
          <p:cNvPr name="TextBox 7" id="7"/>
          <p:cNvSpPr txBox="true"/>
          <p:nvPr/>
        </p:nvSpPr>
        <p:spPr>
          <a:xfrm rot="0">
            <a:off x="1307673" y="2524365"/>
            <a:ext cx="15951627" cy="6732032"/>
          </a:xfrm>
          <a:prstGeom prst="rect">
            <a:avLst/>
          </a:prstGeom>
        </p:spPr>
        <p:txBody>
          <a:bodyPr anchor="t" rtlCol="false" tIns="0" lIns="0" bIns="0" rIns="0">
            <a:spAutoFit/>
          </a:bodyPr>
          <a:lstStyle/>
          <a:p>
            <a:pPr algn="just" marL="773859" indent="-386930" lvl="1">
              <a:lnSpc>
                <a:spcPts val="5018"/>
              </a:lnSpc>
              <a:buFont typeface="Arial"/>
              <a:buChar char="•"/>
            </a:pPr>
            <a:r>
              <a:rPr lang="en-US" b="true" sz="3584" spc="35">
                <a:solidFill>
                  <a:srgbClr val="2B2E3C"/>
                </a:solidFill>
                <a:latin typeface="Canva Sans Bold"/>
                <a:ea typeface="Canva Sans Bold"/>
                <a:cs typeface="Canva Sans Bold"/>
                <a:sym typeface="Canva Sans Bold"/>
              </a:rPr>
              <a:t>Data Cleaning: </a:t>
            </a:r>
            <a:r>
              <a:rPr lang="en-US" sz="3584" spc="35">
                <a:solidFill>
                  <a:srgbClr val="2B2E3C"/>
                </a:solidFill>
                <a:latin typeface="Canva Sans"/>
                <a:ea typeface="Canva Sans"/>
                <a:cs typeface="Canva Sans"/>
                <a:sym typeface="Canva Sans"/>
              </a:rPr>
              <a:t>Missing values were identified in 6 features and  it was handled by filling with the median and mode of the respective columns.</a:t>
            </a:r>
          </a:p>
          <a:p>
            <a:pPr algn="just" marL="773859" indent="-386930" lvl="1">
              <a:lnSpc>
                <a:spcPts val="5018"/>
              </a:lnSpc>
              <a:buFont typeface="Arial"/>
              <a:buChar char="•"/>
            </a:pPr>
            <a:r>
              <a:rPr lang="en-US" b="true" sz="3584" spc="35">
                <a:solidFill>
                  <a:srgbClr val="2B2E3C"/>
                </a:solidFill>
                <a:latin typeface="Canva Sans Bold"/>
                <a:ea typeface="Canva Sans Bold"/>
                <a:cs typeface="Canva Sans Bold"/>
                <a:sym typeface="Canva Sans Bold"/>
              </a:rPr>
              <a:t>Encoding:  </a:t>
            </a:r>
            <a:r>
              <a:rPr lang="en-US" sz="3584" spc="35">
                <a:solidFill>
                  <a:srgbClr val="2B2E3C"/>
                </a:solidFill>
                <a:latin typeface="Canva Sans"/>
                <a:ea typeface="Canva Sans"/>
                <a:cs typeface="Canva Sans"/>
                <a:sym typeface="Canva Sans"/>
              </a:rPr>
              <a:t>Encoding was performed for categorical columns</a:t>
            </a:r>
          </a:p>
          <a:p>
            <a:pPr algn="just" marL="773859" indent="-386930" lvl="1">
              <a:lnSpc>
                <a:spcPts val="5018"/>
              </a:lnSpc>
              <a:buFont typeface="Arial"/>
              <a:buChar char="•"/>
            </a:pPr>
            <a:r>
              <a:rPr lang="en-US" b="true" sz="3584" spc="35">
                <a:solidFill>
                  <a:srgbClr val="2B2E3C"/>
                </a:solidFill>
                <a:latin typeface="Canva Sans Bold"/>
                <a:ea typeface="Canva Sans Bold"/>
                <a:cs typeface="Canva Sans Bold"/>
                <a:sym typeface="Canva Sans Bold"/>
              </a:rPr>
              <a:t>Outlier detection and handling: </a:t>
            </a:r>
            <a:r>
              <a:rPr lang="en-US" sz="3584" spc="35">
                <a:solidFill>
                  <a:srgbClr val="2B2E3C"/>
                </a:solidFill>
                <a:latin typeface="Canva Sans"/>
                <a:ea typeface="Canva Sans"/>
                <a:cs typeface="Canva Sans"/>
                <a:sym typeface="Canva Sans"/>
              </a:rPr>
              <a:t>Outliers were detected using IQR technique and handled by using capping method. </a:t>
            </a:r>
          </a:p>
          <a:p>
            <a:pPr algn="just" marL="773859" indent="-386930" lvl="1">
              <a:lnSpc>
                <a:spcPts val="5018"/>
              </a:lnSpc>
              <a:buFont typeface="Arial"/>
              <a:buChar char="•"/>
            </a:pPr>
            <a:r>
              <a:rPr lang="en-US" b="true" sz="3584" spc="35">
                <a:solidFill>
                  <a:srgbClr val="2B2E3C"/>
                </a:solidFill>
                <a:latin typeface="Canva Sans Bold"/>
                <a:ea typeface="Canva Sans Bold"/>
                <a:cs typeface="Canva Sans Bold"/>
                <a:sym typeface="Canva Sans Bold"/>
              </a:rPr>
              <a:t>Feature Scaling: </a:t>
            </a:r>
            <a:r>
              <a:rPr lang="en-US" sz="3584" spc="35">
                <a:solidFill>
                  <a:srgbClr val="2B2E3C"/>
                </a:solidFill>
                <a:latin typeface="Canva Sans"/>
                <a:ea typeface="Canva Sans"/>
                <a:cs typeface="Canva Sans"/>
                <a:sym typeface="Canva Sans"/>
              </a:rPr>
              <a:t>All independent variables were scaled using StandardScaler to normalize their range. </a:t>
            </a:r>
          </a:p>
          <a:p>
            <a:pPr algn="just" marL="773859" indent="-386930" lvl="1">
              <a:lnSpc>
                <a:spcPts val="5018"/>
              </a:lnSpc>
              <a:buFont typeface="Arial"/>
              <a:buChar char="•"/>
            </a:pPr>
            <a:r>
              <a:rPr lang="en-US" b="true" sz="3584" spc="35">
                <a:solidFill>
                  <a:srgbClr val="2B2E3C"/>
                </a:solidFill>
                <a:latin typeface="Canva Sans Bold"/>
                <a:ea typeface="Canva Sans Bold"/>
                <a:cs typeface="Canva Sans Bold"/>
                <a:sym typeface="Canva Sans Bold"/>
              </a:rPr>
              <a:t>Oversampling: </a:t>
            </a:r>
            <a:r>
              <a:rPr lang="en-US" sz="3584" spc="35">
                <a:solidFill>
                  <a:srgbClr val="2B2E3C"/>
                </a:solidFill>
                <a:latin typeface="Canva Sans"/>
                <a:ea typeface="Canva Sans"/>
                <a:cs typeface="Canva Sans"/>
                <a:sym typeface="Canva Sans"/>
              </a:rPr>
              <a:t>Applied SMOTE (Synthetic Minority Oversampling Technique) to balance fraud and non-fraud classes.</a:t>
            </a:r>
          </a:p>
          <a:p>
            <a:pPr algn="l">
              <a:lnSpc>
                <a:spcPts val="3618"/>
              </a:lnSpc>
            </a:pPr>
          </a:p>
        </p:txBody>
      </p:sp>
      <p:sp>
        <p:nvSpPr>
          <p:cNvPr name="TextBox 8" id="8"/>
          <p:cNvSpPr txBox="true"/>
          <p:nvPr/>
        </p:nvSpPr>
        <p:spPr>
          <a:xfrm rot="0">
            <a:off x="1576992" y="1066800"/>
            <a:ext cx="10707907" cy="975027"/>
          </a:xfrm>
          <a:prstGeom prst="rect">
            <a:avLst/>
          </a:prstGeom>
        </p:spPr>
        <p:txBody>
          <a:bodyPr anchor="t" rtlCol="false" tIns="0" lIns="0" bIns="0" rIns="0">
            <a:spAutoFit/>
          </a:bodyPr>
          <a:lstStyle/>
          <a:p>
            <a:pPr algn="l">
              <a:lnSpc>
                <a:spcPts val="7645"/>
              </a:lnSpc>
            </a:pPr>
            <a:r>
              <a:rPr lang="en-US" b="true" sz="6706" spc="-147">
                <a:solidFill>
                  <a:srgbClr val="000000"/>
                </a:solidFill>
                <a:latin typeface="Canva Sans Bold"/>
                <a:ea typeface="Canva Sans Bold"/>
                <a:cs typeface="Canva Sans Bold"/>
                <a:sym typeface="Canva Sans Bold"/>
              </a:rPr>
              <a:t>DATA PREPROCESSING</a:t>
            </a:r>
          </a:p>
        </p:txBody>
      </p:sp>
      <p:sp>
        <p:nvSpPr>
          <p:cNvPr name="TextBox 9" id="9"/>
          <p:cNvSpPr txBox="true"/>
          <p:nvPr/>
        </p:nvSpPr>
        <p:spPr>
          <a:xfrm rot="0">
            <a:off x="6728368" y="7210754"/>
            <a:ext cx="405155" cy="355913"/>
          </a:xfrm>
          <a:prstGeom prst="rect">
            <a:avLst/>
          </a:prstGeom>
        </p:spPr>
        <p:txBody>
          <a:bodyPr anchor="t" rtlCol="false" tIns="0" lIns="0" bIns="0" rIns="0">
            <a:spAutoFit/>
          </a:bodyPr>
          <a:lstStyle/>
          <a:p>
            <a:pPr algn="l">
              <a:lnSpc>
                <a:spcPts val="2957"/>
              </a:lnSpc>
            </a:pPr>
            <a:r>
              <a:rPr lang="en-US" b="true" sz="2112" spc="-33">
                <a:solidFill>
                  <a:srgbClr val="FFF8F0"/>
                </a:solidFill>
                <a:latin typeface="Canva Sans Bold"/>
                <a:ea typeface="Canva Sans Bold"/>
                <a:cs typeface="Canva Sans Bold"/>
                <a:sym typeface="Canva Sans Bold"/>
              </a:rPr>
              <a:t>3</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784006" y="2442199"/>
            <a:ext cx="10135696" cy="7323040"/>
          </a:xfrm>
          <a:custGeom>
            <a:avLst/>
            <a:gdLst/>
            <a:ahLst/>
            <a:cxnLst/>
            <a:rect r="r" b="b" t="t" l="l"/>
            <a:pathLst>
              <a:path h="7323040" w="10135696">
                <a:moveTo>
                  <a:pt x="0" y="0"/>
                </a:moveTo>
                <a:lnTo>
                  <a:pt x="10135696" y="0"/>
                </a:lnTo>
                <a:lnTo>
                  <a:pt x="10135696" y="7323040"/>
                </a:lnTo>
                <a:lnTo>
                  <a:pt x="0" y="7323040"/>
                </a:lnTo>
                <a:lnTo>
                  <a:pt x="0" y="0"/>
                </a:lnTo>
                <a:close/>
              </a:path>
            </a:pathLst>
          </a:custGeom>
          <a:blipFill>
            <a:blip r:embed="rId2"/>
            <a:stretch>
              <a:fillRect l="0" t="0" r="0" b="0"/>
            </a:stretch>
          </a:blipFill>
        </p:spPr>
      </p:sp>
      <p:sp>
        <p:nvSpPr>
          <p:cNvPr name="TextBox 3" id="3"/>
          <p:cNvSpPr txBox="true"/>
          <p:nvPr/>
        </p:nvSpPr>
        <p:spPr>
          <a:xfrm rot="0">
            <a:off x="6728368" y="4519776"/>
            <a:ext cx="405155" cy="355913"/>
          </a:xfrm>
          <a:prstGeom prst="rect">
            <a:avLst/>
          </a:prstGeom>
        </p:spPr>
        <p:txBody>
          <a:bodyPr anchor="t" rtlCol="false" tIns="0" lIns="0" bIns="0" rIns="0">
            <a:spAutoFit/>
          </a:bodyPr>
          <a:lstStyle/>
          <a:p>
            <a:pPr algn="l">
              <a:lnSpc>
                <a:spcPts val="2957"/>
              </a:lnSpc>
            </a:pPr>
            <a:r>
              <a:rPr lang="en-US" b="true" sz="2112" spc="-33">
                <a:solidFill>
                  <a:srgbClr val="FFF8F0"/>
                </a:solidFill>
                <a:latin typeface="Canva Sans Bold"/>
                <a:ea typeface="Canva Sans Bold"/>
                <a:cs typeface="Canva Sans Bold"/>
                <a:sym typeface="Canva Sans Bold"/>
              </a:rPr>
              <a:t>1</a:t>
            </a:r>
          </a:p>
        </p:txBody>
      </p:sp>
      <p:sp>
        <p:nvSpPr>
          <p:cNvPr name="TextBox 4" id="4"/>
          <p:cNvSpPr txBox="true"/>
          <p:nvPr/>
        </p:nvSpPr>
        <p:spPr>
          <a:xfrm rot="0">
            <a:off x="6728368" y="5865265"/>
            <a:ext cx="405155" cy="355913"/>
          </a:xfrm>
          <a:prstGeom prst="rect">
            <a:avLst/>
          </a:prstGeom>
        </p:spPr>
        <p:txBody>
          <a:bodyPr anchor="t" rtlCol="false" tIns="0" lIns="0" bIns="0" rIns="0">
            <a:spAutoFit/>
          </a:bodyPr>
          <a:lstStyle/>
          <a:p>
            <a:pPr algn="l">
              <a:lnSpc>
                <a:spcPts val="2957"/>
              </a:lnSpc>
            </a:pPr>
            <a:r>
              <a:rPr lang="en-US" b="true" sz="2112" spc="-33">
                <a:solidFill>
                  <a:srgbClr val="FFF8F0"/>
                </a:solidFill>
                <a:latin typeface="Canva Sans Bold"/>
                <a:ea typeface="Canva Sans Bold"/>
                <a:cs typeface="Canva Sans Bold"/>
                <a:sym typeface="Canva Sans Bold"/>
              </a:rPr>
              <a:t>2</a:t>
            </a:r>
          </a:p>
        </p:txBody>
      </p:sp>
      <p:sp>
        <p:nvSpPr>
          <p:cNvPr name="TextBox 5" id="5"/>
          <p:cNvSpPr txBox="true"/>
          <p:nvPr/>
        </p:nvSpPr>
        <p:spPr>
          <a:xfrm rot="0">
            <a:off x="749727" y="3566505"/>
            <a:ext cx="7034279" cy="4799611"/>
          </a:xfrm>
          <a:prstGeom prst="rect">
            <a:avLst/>
          </a:prstGeom>
        </p:spPr>
        <p:txBody>
          <a:bodyPr anchor="t" rtlCol="false" tIns="0" lIns="0" bIns="0" rIns="0">
            <a:spAutoFit/>
          </a:bodyPr>
          <a:lstStyle/>
          <a:p>
            <a:pPr algn="just" marL="661795" indent="-330898" lvl="1">
              <a:lnSpc>
                <a:spcPts val="4291"/>
              </a:lnSpc>
              <a:buFont typeface="Arial"/>
              <a:buChar char="•"/>
            </a:pPr>
            <a:r>
              <a:rPr lang="en-US" sz="3065" spc="30">
                <a:solidFill>
                  <a:srgbClr val="2B2E3C"/>
                </a:solidFill>
                <a:latin typeface="Canva Sans"/>
                <a:ea typeface="Canva Sans"/>
                <a:cs typeface="Canva Sans"/>
                <a:sym typeface="Canva Sans"/>
              </a:rPr>
              <a:t>The heatmap shows the correlation between different transaction features in the dataset.</a:t>
            </a:r>
          </a:p>
          <a:p>
            <a:pPr algn="just">
              <a:lnSpc>
                <a:spcPts val="4291"/>
              </a:lnSpc>
            </a:pPr>
          </a:p>
          <a:p>
            <a:pPr algn="just" marL="661795" indent="-330898" lvl="1">
              <a:lnSpc>
                <a:spcPts val="4291"/>
              </a:lnSpc>
              <a:buFont typeface="Arial"/>
              <a:buChar char="•"/>
            </a:pPr>
            <a:r>
              <a:rPr lang="en-US" sz="3065" spc="30">
                <a:solidFill>
                  <a:srgbClr val="2B2E3C"/>
                </a:solidFill>
                <a:latin typeface="Canva Sans"/>
                <a:ea typeface="Canva Sans"/>
                <a:cs typeface="Canva Sans"/>
                <a:sym typeface="Canva Sans"/>
              </a:rPr>
              <a:t> It helps identify which variables have strong positive or negative relationships with fraudulent transactions.</a:t>
            </a:r>
          </a:p>
        </p:txBody>
      </p:sp>
      <p:sp>
        <p:nvSpPr>
          <p:cNvPr name="TextBox 6" id="6"/>
          <p:cNvSpPr txBox="true"/>
          <p:nvPr/>
        </p:nvSpPr>
        <p:spPr>
          <a:xfrm rot="0">
            <a:off x="1028700" y="841580"/>
            <a:ext cx="16391986" cy="914830"/>
          </a:xfrm>
          <a:prstGeom prst="rect">
            <a:avLst/>
          </a:prstGeom>
        </p:spPr>
        <p:txBody>
          <a:bodyPr anchor="t" rtlCol="false" tIns="0" lIns="0" bIns="0" rIns="0">
            <a:spAutoFit/>
          </a:bodyPr>
          <a:lstStyle/>
          <a:p>
            <a:pPr algn="l">
              <a:lnSpc>
                <a:spcPts val="7189"/>
              </a:lnSpc>
            </a:pPr>
            <a:r>
              <a:rPr lang="en-US" b="true" sz="6306" spc="-138">
                <a:solidFill>
                  <a:srgbClr val="000000"/>
                </a:solidFill>
                <a:latin typeface="Canva Sans Bold"/>
                <a:ea typeface="Canva Sans Bold"/>
                <a:cs typeface="Canva Sans Bold"/>
                <a:sym typeface="Canva Sans Bold"/>
              </a:rPr>
              <a:t>EXPLORATORY  DATA  ANALYSIS  (EDA)</a:t>
            </a:r>
          </a:p>
        </p:txBody>
      </p:sp>
      <p:sp>
        <p:nvSpPr>
          <p:cNvPr name="TextBox 7" id="7"/>
          <p:cNvSpPr txBox="true"/>
          <p:nvPr/>
        </p:nvSpPr>
        <p:spPr>
          <a:xfrm rot="0">
            <a:off x="1028700" y="2227418"/>
            <a:ext cx="6755306" cy="770416"/>
          </a:xfrm>
          <a:prstGeom prst="rect">
            <a:avLst/>
          </a:prstGeom>
        </p:spPr>
        <p:txBody>
          <a:bodyPr anchor="t" rtlCol="false" tIns="0" lIns="0" bIns="0" rIns="0">
            <a:spAutoFit/>
          </a:bodyPr>
          <a:lstStyle/>
          <a:p>
            <a:pPr algn="just">
              <a:lnSpc>
                <a:spcPts val="6361"/>
              </a:lnSpc>
            </a:pPr>
            <a:r>
              <a:rPr lang="en-US" b="true" sz="4543" spc="45" u="sng">
                <a:solidFill>
                  <a:srgbClr val="2B2E3C"/>
                </a:solidFill>
                <a:latin typeface="Canva Sans Bold"/>
                <a:ea typeface="Canva Sans Bold"/>
                <a:cs typeface="Canva Sans Bold"/>
                <a:sym typeface="Canva Sans Bold"/>
              </a:rPr>
              <a:t>Correlation Heatmap</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471091" y="632626"/>
            <a:ext cx="11345818" cy="8239900"/>
          </a:xfrm>
          <a:custGeom>
            <a:avLst/>
            <a:gdLst/>
            <a:ahLst/>
            <a:cxnLst/>
            <a:rect r="r" b="b" t="t" l="l"/>
            <a:pathLst>
              <a:path h="8239900" w="11345818">
                <a:moveTo>
                  <a:pt x="0" y="0"/>
                </a:moveTo>
                <a:lnTo>
                  <a:pt x="11345818" y="0"/>
                </a:lnTo>
                <a:lnTo>
                  <a:pt x="11345818" y="8239900"/>
                </a:lnTo>
                <a:lnTo>
                  <a:pt x="0" y="8239900"/>
                </a:lnTo>
                <a:lnTo>
                  <a:pt x="0" y="0"/>
                </a:lnTo>
                <a:close/>
              </a:path>
            </a:pathLst>
          </a:custGeom>
          <a:blipFill>
            <a:blip r:embed="rId2"/>
            <a:stretch>
              <a:fillRect l="0" t="0" r="0" b="0"/>
            </a:stretch>
          </a:blipFill>
        </p:spPr>
      </p:sp>
      <p:sp>
        <p:nvSpPr>
          <p:cNvPr name="TextBox 3" id="3"/>
          <p:cNvSpPr txBox="true"/>
          <p:nvPr/>
        </p:nvSpPr>
        <p:spPr>
          <a:xfrm rot="0">
            <a:off x="1298148" y="8946387"/>
            <a:ext cx="15961152" cy="976773"/>
          </a:xfrm>
          <a:prstGeom prst="rect">
            <a:avLst/>
          </a:prstGeom>
        </p:spPr>
        <p:txBody>
          <a:bodyPr anchor="t" rtlCol="false" tIns="0" lIns="0" bIns="0" rIns="0">
            <a:spAutoFit/>
          </a:bodyPr>
          <a:lstStyle/>
          <a:p>
            <a:pPr algn="just" marL="603307" indent="-301653" lvl="1">
              <a:lnSpc>
                <a:spcPts val="3912"/>
              </a:lnSpc>
              <a:buFont typeface="Arial"/>
              <a:buChar char="•"/>
            </a:pPr>
            <a:r>
              <a:rPr lang="en-US" sz="2794" spc="27">
                <a:solidFill>
                  <a:srgbClr val="2B2E3C"/>
                </a:solidFill>
                <a:latin typeface="Canva Sans"/>
                <a:ea typeface="Canva Sans"/>
                <a:cs typeface="Canva Sans"/>
                <a:sym typeface="Canva Sans"/>
              </a:rPr>
              <a:t>The histogram shows the frequency distribution of numerical variables such as transaction amount and average transaction amount</a:t>
            </a:r>
          </a:p>
        </p:txBody>
      </p:sp>
      <p:sp>
        <p:nvSpPr>
          <p:cNvPr name="TextBox 4" id="4"/>
          <p:cNvSpPr txBox="true"/>
          <p:nvPr/>
        </p:nvSpPr>
        <p:spPr>
          <a:xfrm rot="0">
            <a:off x="1028700" y="651676"/>
            <a:ext cx="3914562" cy="753286"/>
          </a:xfrm>
          <a:prstGeom prst="rect">
            <a:avLst/>
          </a:prstGeom>
        </p:spPr>
        <p:txBody>
          <a:bodyPr anchor="t" rtlCol="false" tIns="0" lIns="0" bIns="0" rIns="0">
            <a:spAutoFit/>
          </a:bodyPr>
          <a:lstStyle/>
          <a:p>
            <a:pPr algn="l">
              <a:lnSpc>
                <a:spcPts val="5821"/>
              </a:lnSpc>
            </a:pPr>
            <a:r>
              <a:rPr lang="en-US" b="true" sz="5106" spc="-112" u="sng">
                <a:solidFill>
                  <a:srgbClr val="000000"/>
                </a:solidFill>
                <a:latin typeface="Canva Sans Bold"/>
                <a:ea typeface="Canva Sans Bold"/>
                <a:cs typeface="Canva Sans Bold"/>
                <a:sym typeface="Canva Sans Bold"/>
              </a:rPr>
              <a:t>Histogram</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056095" y="1174598"/>
            <a:ext cx="10478603" cy="7714872"/>
          </a:xfrm>
          <a:custGeom>
            <a:avLst/>
            <a:gdLst/>
            <a:ahLst/>
            <a:cxnLst/>
            <a:rect r="r" b="b" t="t" l="l"/>
            <a:pathLst>
              <a:path h="7714872" w="10478603">
                <a:moveTo>
                  <a:pt x="0" y="0"/>
                </a:moveTo>
                <a:lnTo>
                  <a:pt x="10478604" y="0"/>
                </a:lnTo>
                <a:lnTo>
                  <a:pt x="10478604" y="7714872"/>
                </a:lnTo>
                <a:lnTo>
                  <a:pt x="0" y="7714872"/>
                </a:lnTo>
                <a:lnTo>
                  <a:pt x="0" y="0"/>
                </a:lnTo>
                <a:close/>
              </a:path>
            </a:pathLst>
          </a:custGeom>
          <a:blipFill>
            <a:blip r:embed="rId2"/>
            <a:stretch>
              <a:fillRect l="0" t="0" r="0" b="0"/>
            </a:stretch>
          </a:blipFill>
        </p:spPr>
      </p:sp>
      <p:sp>
        <p:nvSpPr>
          <p:cNvPr name="TextBox 3" id="3"/>
          <p:cNvSpPr txBox="true"/>
          <p:nvPr/>
        </p:nvSpPr>
        <p:spPr>
          <a:xfrm rot="0">
            <a:off x="6728368" y="4519776"/>
            <a:ext cx="405155" cy="355913"/>
          </a:xfrm>
          <a:prstGeom prst="rect">
            <a:avLst/>
          </a:prstGeom>
        </p:spPr>
        <p:txBody>
          <a:bodyPr anchor="t" rtlCol="false" tIns="0" lIns="0" bIns="0" rIns="0">
            <a:spAutoFit/>
          </a:bodyPr>
          <a:lstStyle/>
          <a:p>
            <a:pPr algn="l">
              <a:lnSpc>
                <a:spcPts val="2957"/>
              </a:lnSpc>
            </a:pPr>
            <a:r>
              <a:rPr lang="en-US" b="true" sz="2112" spc="-33">
                <a:solidFill>
                  <a:srgbClr val="FFF8F0"/>
                </a:solidFill>
                <a:latin typeface="Canva Sans Bold"/>
                <a:ea typeface="Canva Sans Bold"/>
                <a:cs typeface="Canva Sans Bold"/>
                <a:sym typeface="Canva Sans Bold"/>
              </a:rPr>
              <a:t>1</a:t>
            </a:r>
          </a:p>
        </p:txBody>
      </p:sp>
      <p:sp>
        <p:nvSpPr>
          <p:cNvPr name="TextBox 4" id="4"/>
          <p:cNvSpPr txBox="true"/>
          <p:nvPr/>
        </p:nvSpPr>
        <p:spPr>
          <a:xfrm rot="0">
            <a:off x="6728368" y="5865265"/>
            <a:ext cx="405155" cy="355913"/>
          </a:xfrm>
          <a:prstGeom prst="rect">
            <a:avLst/>
          </a:prstGeom>
        </p:spPr>
        <p:txBody>
          <a:bodyPr anchor="t" rtlCol="false" tIns="0" lIns="0" bIns="0" rIns="0">
            <a:spAutoFit/>
          </a:bodyPr>
          <a:lstStyle/>
          <a:p>
            <a:pPr algn="l">
              <a:lnSpc>
                <a:spcPts val="2957"/>
              </a:lnSpc>
            </a:pPr>
            <a:r>
              <a:rPr lang="en-US" b="true" sz="2112" spc="-33">
                <a:solidFill>
                  <a:srgbClr val="FFF8F0"/>
                </a:solidFill>
                <a:latin typeface="Canva Sans Bold"/>
                <a:ea typeface="Canva Sans Bold"/>
                <a:cs typeface="Canva Sans Bold"/>
                <a:sym typeface="Canva Sans Bold"/>
              </a:rPr>
              <a:t>2</a:t>
            </a:r>
          </a:p>
        </p:txBody>
      </p:sp>
      <p:sp>
        <p:nvSpPr>
          <p:cNvPr name="TextBox 5" id="5"/>
          <p:cNvSpPr txBox="true"/>
          <p:nvPr/>
        </p:nvSpPr>
        <p:spPr>
          <a:xfrm rot="0">
            <a:off x="1109393" y="8832320"/>
            <a:ext cx="16230600" cy="1046640"/>
          </a:xfrm>
          <a:prstGeom prst="rect">
            <a:avLst/>
          </a:prstGeom>
        </p:spPr>
        <p:txBody>
          <a:bodyPr anchor="t" rtlCol="false" tIns="0" lIns="0" bIns="0" rIns="0">
            <a:spAutoFit/>
          </a:bodyPr>
          <a:lstStyle/>
          <a:p>
            <a:pPr algn="just" marL="657139" indent="-328569" lvl="1">
              <a:lnSpc>
                <a:spcPts val="4261"/>
              </a:lnSpc>
              <a:buFont typeface="Arial"/>
              <a:buChar char="•"/>
            </a:pPr>
            <a:r>
              <a:rPr lang="en-US" sz="3043" spc="30">
                <a:solidFill>
                  <a:srgbClr val="2B2E3C"/>
                </a:solidFill>
                <a:latin typeface="Canva Sans"/>
                <a:ea typeface="Canva Sans"/>
                <a:cs typeface="Canva Sans"/>
                <a:sym typeface="Canva Sans"/>
              </a:rPr>
              <a:t>Countplots show frequency of categories within a dataset like card type and merchant category. </a:t>
            </a:r>
          </a:p>
        </p:txBody>
      </p:sp>
      <p:sp>
        <p:nvSpPr>
          <p:cNvPr name="TextBox 6" id="6"/>
          <p:cNvSpPr txBox="true"/>
          <p:nvPr/>
        </p:nvSpPr>
        <p:spPr>
          <a:xfrm rot="0">
            <a:off x="1028700" y="841580"/>
            <a:ext cx="16391986" cy="704137"/>
          </a:xfrm>
          <a:prstGeom prst="rect">
            <a:avLst/>
          </a:prstGeom>
        </p:spPr>
        <p:txBody>
          <a:bodyPr anchor="t" rtlCol="false" tIns="0" lIns="0" bIns="0" rIns="0">
            <a:spAutoFit/>
          </a:bodyPr>
          <a:lstStyle/>
          <a:p>
            <a:pPr algn="l">
              <a:lnSpc>
                <a:spcPts val="5593"/>
              </a:lnSpc>
            </a:pPr>
            <a:r>
              <a:rPr lang="en-US" b="true" sz="4906" spc="-107" u="sng">
                <a:solidFill>
                  <a:srgbClr val="000000"/>
                </a:solidFill>
                <a:latin typeface="Canva Sans Bold"/>
                <a:ea typeface="Canva Sans Bold"/>
                <a:cs typeface="Canva Sans Bold"/>
                <a:sym typeface="Canva Sans Bold"/>
              </a:rPr>
              <a:t>Countplot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673059" y="1028700"/>
            <a:ext cx="9638160" cy="8013598"/>
          </a:xfrm>
          <a:custGeom>
            <a:avLst/>
            <a:gdLst/>
            <a:ahLst/>
            <a:cxnLst/>
            <a:rect r="r" b="b" t="t" l="l"/>
            <a:pathLst>
              <a:path h="8013598" w="9638160">
                <a:moveTo>
                  <a:pt x="0" y="0"/>
                </a:moveTo>
                <a:lnTo>
                  <a:pt x="9638160" y="0"/>
                </a:lnTo>
                <a:lnTo>
                  <a:pt x="9638160" y="8013598"/>
                </a:lnTo>
                <a:lnTo>
                  <a:pt x="0" y="8013598"/>
                </a:lnTo>
                <a:lnTo>
                  <a:pt x="0" y="0"/>
                </a:lnTo>
                <a:close/>
              </a:path>
            </a:pathLst>
          </a:custGeom>
          <a:blipFill>
            <a:blip r:embed="rId2"/>
            <a:stretch>
              <a:fillRect l="0" t="0" r="0" b="0"/>
            </a:stretch>
          </a:blipFill>
        </p:spPr>
      </p:sp>
      <p:sp>
        <p:nvSpPr>
          <p:cNvPr name="TextBox 3" id="3"/>
          <p:cNvSpPr txBox="true"/>
          <p:nvPr/>
        </p:nvSpPr>
        <p:spPr>
          <a:xfrm rot="0">
            <a:off x="610240" y="8975623"/>
            <a:ext cx="17089419" cy="1672390"/>
          </a:xfrm>
          <a:prstGeom prst="rect">
            <a:avLst/>
          </a:prstGeom>
        </p:spPr>
        <p:txBody>
          <a:bodyPr anchor="t" rtlCol="false" tIns="0" lIns="0" bIns="0" rIns="0">
            <a:spAutoFit/>
          </a:bodyPr>
          <a:lstStyle/>
          <a:p>
            <a:pPr algn="just" marL="700318" indent="-350159" lvl="1">
              <a:lnSpc>
                <a:spcPts val="4541"/>
              </a:lnSpc>
              <a:buFont typeface="Arial"/>
              <a:buChar char="•"/>
            </a:pPr>
            <a:r>
              <a:rPr lang="en-US" sz="3243" spc="32">
                <a:solidFill>
                  <a:srgbClr val="2B2E3C"/>
                </a:solidFill>
                <a:latin typeface="Canva Sans"/>
                <a:ea typeface="Canva Sans"/>
                <a:cs typeface="Canva Sans"/>
                <a:sym typeface="Canva Sans"/>
              </a:rPr>
              <a:t>Boxplots are used to detect and visualize outliers.  Variables like transaction amt, distance from home, average transaction amt etc have high no of outliers.</a:t>
            </a:r>
          </a:p>
          <a:p>
            <a:pPr algn="l">
              <a:lnSpc>
                <a:spcPts val="4300"/>
              </a:lnSpc>
            </a:pPr>
          </a:p>
        </p:txBody>
      </p:sp>
      <p:sp>
        <p:nvSpPr>
          <p:cNvPr name="TextBox 4" id="4"/>
          <p:cNvSpPr txBox="true"/>
          <p:nvPr/>
        </p:nvSpPr>
        <p:spPr>
          <a:xfrm rot="0">
            <a:off x="1296146" y="606528"/>
            <a:ext cx="16391986" cy="843583"/>
          </a:xfrm>
          <a:prstGeom prst="rect">
            <a:avLst/>
          </a:prstGeom>
        </p:spPr>
        <p:txBody>
          <a:bodyPr anchor="t" rtlCol="false" tIns="0" lIns="0" bIns="0" rIns="0">
            <a:spAutoFit/>
          </a:bodyPr>
          <a:lstStyle/>
          <a:p>
            <a:pPr algn="l">
              <a:lnSpc>
                <a:spcPts val="6505"/>
              </a:lnSpc>
            </a:pPr>
            <a:r>
              <a:rPr lang="en-US" b="true" sz="5706" spc="-125" u="sng">
                <a:solidFill>
                  <a:srgbClr val="000000"/>
                </a:solidFill>
                <a:latin typeface="Canva Sans Bold"/>
                <a:ea typeface="Canva Sans Bold"/>
                <a:cs typeface="Canva Sans Bold"/>
                <a:sym typeface="Canva Sans Bold"/>
              </a:rPr>
              <a:t>Boxplot</a:t>
            </a:r>
          </a:p>
        </p:txBody>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383561" y="-206027"/>
            <a:ext cx="1412261" cy="10699054"/>
            <a:chOff x="0" y="0"/>
            <a:chExt cx="371953" cy="2817858"/>
          </a:xfrm>
        </p:grpSpPr>
        <p:sp>
          <p:nvSpPr>
            <p:cNvPr name="Freeform 3" id="3"/>
            <p:cNvSpPr/>
            <p:nvPr/>
          </p:nvSpPr>
          <p:spPr>
            <a:xfrm flipH="false" flipV="false" rot="0">
              <a:off x="0" y="0"/>
              <a:ext cx="371953" cy="2817858"/>
            </a:xfrm>
            <a:custGeom>
              <a:avLst/>
              <a:gdLst/>
              <a:ahLst/>
              <a:cxnLst/>
              <a:rect r="r" b="b" t="t" l="l"/>
              <a:pathLst>
                <a:path h="2817858" w="371953">
                  <a:moveTo>
                    <a:pt x="0" y="0"/>
                  </a:moveTo>
                  <a:lnTo>
                    <a:pt x="371953" y="0"/>
                  </a:lnTo>
                  <a:lnTo>
                    <a:pt x="371953" y="2817858"/>
                  </a:lnTo>
                  <a:lnTo>
                    <a:pt x="0" y="2817858"/>
                  </a:lnTo>
                  <a:close/>
                </a:path>
              </a:pathLst>
            </a:custGeom>
            <a:solidFill>
              <a:srgbClr val="56A1A8"/>
            </a:solidFill>
          </p:spPr>
        </p:sp>
        <p:sp>
          <p:nvSpPr>
            <p:cNvPr name="TextBox 4" id="4"/>
            <p:cNvSpPr txBox="true"/>
            <p:nvPr/>
          </p:nvSpPr>
          <p:spPr>
            <a:xfrm>
              <a:off x="0" y="-28575"/>
              <a:ext cx="371953" cy="2846433"/>
            </a:xfrm>
            <a:prstGeom prst="rect">
              <a:avLst/>
            </a:prstGeom>
          </p:spPr>
          <p:txBody>
            <a:bodyPr anchor="ctr" rtlCol="false" tIns="50800" lIns="50800" bIns="50800" rIns="50800"/>
            <a:lstStyle/>
            <a:p>
              <a:pPr algn="ctr">
                <a:lnSpc>
                  <a:spcPts val="2366"/>
                </a:lnSpc>
              </a:pPr>
            </a:p>
          </p:txBody>
        </p:sp>
      </p:grpSp>
      <p:sp>
        <p:nvSpPr>
          <p:cNvPr name="TextBox 5" id="5"/>
          <p:cNvSpPr txBox="true"/>
          <p:nvPr/>
        </p:nvSpPr>
        <p:spPr>
          <a:xfrm rot="0">
            <a:off x="6728368" y="4519776"/>
            <a:ext cx="405155" cy="355913"/>
          </a:xfrm>
          <a:prstGeom prst="rect">
            <a:avLst/>
          </a:prstGeom>
        </p:spPr>
        <p:txBody>
          <a:bodyPr anchor="t" rtlCol="false" tIns="0" lIns="0" bIns="0" rIns="0">
            <a:spAutoFit/>
          </a:bodyPr>
          <a:lstStyle/>
          <a:p>
            <a:pPr algn="l">
              <a:lnSpc>
                <a:spcPts val="2957"/>
              </a:lnSpc>
            </a:pPr>
            <a:r>
              <a:rPr lang="en-US" b="true" sz="2112" spc="-33">
                <a:solidFill>
                  <a:srgbClr val="FFF8F0"/>
                </a:solidFill>
                <a:latin typeface="Canva Sans Bold"/>
                <a:ea typeface="Canva Sans Bold"/>
                <a:cs typeface="Canva Sans Bold"/>
                <a:sym typeface="Canva Sans Bold"/>
              </a:rPr>
              <a:t>1</a:t>
            </a:r>
          </a:p>
        </p:txBody>
      </p:sp>
      <p:sp>
        <p:nvSpPr>
          <p:cNvPr name="TextBox 6" id="6"/>
          <p:cNvSpPr txBox="true"/>
          <p:nvPr/>
        </p:nvSpPr>
        <p:spPr>
          <a:xfrm rot="0">
            <a:off x="6728368" y="5865265"/>
            <a:ext cx="405155" cy="355913"/>
          </a:xfrm>
          <a:prstGeom prst="rect">
            <a:avLst/>
          </a:prstGeom>
        </p:spPr>
        <p:txBody>
          <a:bodyPr anchor="t" rtlCol="false" tIns="0" lIns="0" bIns="0" rIns="0">
            <a:spAutoFit/>
          </a:bodyPr>
          <a:lstStyle/>
          <a:p>
            <a:pPr algn="l">
              <a:lnSpc>
                <a:spcPts val="2957"/>
              </a:lnSpc>
            </a:pPr>
            <a:r>
              <a:rPr lang="en-US" b="true" sz="2112" spc="-33">
                <a:solidFill>
                  <a:srgbClr val="FFF8F0"/>
                </a:solidFill>
                <a:latin typeface="Canva Sans Bold"/>
                <a:ea typeface="Canva Sans Bold"/>
                <a:cs typeface="Canva Sans Bold"/>
                <a:sym typeface="Canva Sans Bold"/>
              </a:rPr>
              <a:t>2</a:t>
            </a:r>
          </a:p>
        </p:txBody>
      </p:sp>
      <p:sp>
        <p:nvSpPr>
          <p:cNvPr name="TextBox 7" id="7"/>
          <p:cNvSpPr txBox="true"/>
          <p:nvPr/>
        </p:nvSpPr>
        <p:spPr>
          <a:xfrm rot="0">
            <a:off x="1576992" y="2874793"/>
            <a:ext cx="14696433" cy="5634365"/>
          </a:xfrm>
          <a:prstGeom prst="rect">
            <a:avLst/>
          </a:prstGeom>
        </p:spPr>
        <p:txBody>
          <a:bodyPr anchor="t" rtlCol="false" tIns="0" lIns="0" bIns="0" rIns="0">
            <a:spAutoFit/>
          </a:bodyPr>
          <a:lstStyle/>
          <a:p>
            <a:pPr algn="l" marL="766363" indent="-383182" lvl="1">
              <a:lnSpc>
                <a:spcPts val="4969"/>
              </a:lnSpc>
              <a:buFont typeface="Arial"/>
              <a:buChar char="•"/>
            </a:pPr>
            <a:r>
              <a:rPr lang="en-US" sz="3549" spc="35">
                <a:solidFill>
                  <a:srgbClr val="000000"/>
                </a:solidFill>
                <a:latin typeface="Canva Sans"/>
                <a:ea typeface="Canva Sans"/>
                <a:cs typeface="Canva Sans"/>
                <a:sym typeface="Canva Sans"/>
              </a:rPr>
              <a:t>Logistic Regression</a:t>
            </a:r>
          </a:p>
          <a:p>
            <a:pPr algn="l" marL="766363" indent="-383182" lvl="1">
              <a:lnSpc>
                <a:spcPts val="4969"/>
              </a:lnSpc>
              <a:buFont typeface="Arial"/>
              <a:buChar char="•"/>
            </a:pPr>
            <a:r>
              <a:rPr lang="en-US" sz="3549" spc="35">
                <a:solidFill>
                  <a:srgbClr val="000000"/>
                </a:solidFill>
                <a:latin typeface="Canva Sans"/>
                <a:ea typeface="Canva Sans"/>
                <a:cs typeface="Canva Sans"/>
                <a:sym typeface="Canva Sans"/>
              </a:rPr>
              <a:t>K-Nearest Neighbors (KNN)  </a:t>
            </a:r>
          </a:p>
          <a:p>
            <a:pPr algn="l" marL="766363" indent="-383182" lvl="1">
              <a:lnSpc>
                <a:spcPts val="4969"/>
              </a:lnSpc>
              <a:buFont typeface="Arial"/>
              <a:buChar char="•"/>
            </a:pPr>
            <a:r>
              <a:rPr lang="en-US" sz="3549" spc="35">
                <a:solidFill>
                  <a:srgbClr val="000000"/>
                </a:solidFill>
                <a:latin typeface="Canva Sans"/>
                <a:ea typeface="Canva Sans"/>
                <a:cs typeface="Canva Sans"/>
                <a:sym typeface="Canva Sans"/>
              </a:rPr>
              <a:t>Support Vector Classifier (SVC)</a:t>
            </a:r>
          </a:p>
          <a:p>
            <a:pPr algn="l" marL="766363" indent="-383182" lvl="1">
              <a:lnSpc>
                <a:spcPts val="4969"/>
              </a:lnSpc>
              <a:buFont typeface="Arial"/>
              <a:buChar char="•"/>
            </a:pPr>
            <a:r>
              <a:rPr lang="en-US" sz="3549" spc="35">
                <a:solidFill>
                  <a:srgbClr val="000000"/>
                </a:solidFill>
                <a:latin typeface="Canva Sans"/>
                <a:ea typeface="Canva Sans"/>
                <a:cs typeface="Canva Sans"/>
                <a:sym typeface="Canva Sans"/>
              </a:rPr>
              <a:t>Gaussian Naive Bayes</a:t>
            </a:r>
          </a:p>
          <a:p>
            <a:pPr algn="l" marL="766363" indent="-383182" lvl="1">
              <a:lnSpc>
                <a:spcPts val="4969"/>
              </a:lnSpc>
              <a:buFont typeface="Arial"/>
              <a:buChar char="•"/>
            </a:pPr>
            <a:r>
              <a:rPr lang="en-US" sz="3549" spc="35">
                <a:solidFill>
                  <a:srgbClr val="000000"/>
                </a:solidFill>
                <a:latin typeface="Canva Sans"/>
                <a:ea typeface="Canva Sans"/>
                <a:cs typeface="Canva Sans"/>
                <a:sym typeface="Canva Sans"/>
              </a:rPr>
              <a:t>Decision Tree</a:t>
            </a:r>
          </a:p>
          <a:p>
            <a:pPr algn="l" marL="766363" indent="-383182" lvl="1">
              <a:lnSpc>
                <a:spcPts val="4969"/>
              </a:lnSpc>
              <a:buFont typeface="Arial"/>
              <a:buChar char="•"/>
            </a:pPr>
            <a:r>
              <a:rPr lang="en-US" sz="3549" spc="35">
                <a:solidFill>
                  <a:srgbClr val="000000"/>
                </a:solidFill>
                <a:latin typeface="Canva Sans"/>
                <a:ea typeface="Canva Sans"/>
                <a:cs typeface="Canva Sans"/>
                <a:sym typeface="Canva Sans"/>
              </a:rPr>
              <a:t>Random Forest Classifier</a:t>
            </a:r>
          </a:p>
          <a:p>
            <a:pPr algn="l" marL="766363" indent="-383182" lvl="1">
              <a:lnSpc>
                <a:spcPts val="4969"/>
              </a:lnSpc>
              <a:buFont typeface="Arial"/>
              <a:buChar char="•"/>
            </a:pPr>
            <a:r>
              <a:rPr lang="en-US" sz="3549" spc="35">
                <a:solidFill>
                  <a:srgbClr val="000000"/>
                </a:solidFill>
                <a:latin typeface="Canva Sans"/>
                <a:ea typeface="Canva Sans"/>
                <a:cs typeface="Canva Sans"/>
                <a:sym typeface="Canva Sans"/>
              </a:rPr>
              <a:t>Adaboost Classifier</a:t>
            </a:r>
          </a:p>
          <a:p>
            <a:pPr algn="l" marL="766363" indent="-383182" lvl="1">
              <a:lnSpc>
                <a:spcPts val="4969"/>
              </a:lnSpc>
              <a:buFont typeface="Arial"/>
              <a:buChar char="•"/>
            </a:pPr>
            <a:r>
              <a:rPr lang="en-US" sz="3549" spc="35">
                <a:solidFill>
                  <a:srgbClr val="000000"/>
                </a:solidFill>
                <a:latin typeface="Canva Sans"/>
                <a:ea typeface="Canva Sans"/>
                <a:cs typeface="Canva Sans"/>
                <a:sym typeface="Canva Sans"/>
              </a:rPr>
              <a:t>Gradientboost Classifier</a:t>
            </a:r>
          </a:p>
          <a:p>
            <a:pPr algn="l" marL="766363" indent="-383182" lvl="1">
              <a:lnSpc>
                <a:spcPts val="4969"/>
              </a:lnSpc>
              <a:buFont typeface="Arial"/>
              <a:buChar char="•"/>
            </a:pPr>
            <a:r>
              <a:rPr lang="en-US" sz="3549" spc="35">
                <a:solidFill>
                  <a:srgbClr val="000000"/>
                </a:solidFill>
                <a:latin typeface="Canva Sans"/>
                <a:ea typeface="Canva Sans"/>
                <a:cs typeface="Canva Sans"/>
                <a:sym typeface="Canva Sans"/>
              </a:rPr>
              <a:t>XGBoost Classifie</a:t>
            </a:r>
            <a:r>
              <a:rPr lang="en-US" sz="3549" spc="35">
                <a:solidFill>
                  <a:srgbClr val="2B2E3C"/>
                </a:solidFill>
                <a:latin typeface="Canva Sans"/>
                <a:ea typeface="Canva Sans"/>
                <a:cs typeface="Canva Sans"/>
                <a:sym typeface="Canva Sans"/>
              </a:rPr>
              <a:t>r</a:t>
            </a:r>
          </a:p>
        </p:txBody>
      </p:sp>
      <p:sp>
        <p:nvSpPr>
          <p:cNvPr name="TextBox 8" id="8"/>
          <p:cNvSpPr txBox="true"/>
          <p:nvPr/>
        </p:nvSpPr>
        <p:spPr>
          <a:xfrm rot="0">
            <a:off x="1576992" y="620434"/>
            <a:ext cx="10707907" cy="854632"/>
          </a:xfrm>
          <a:prstGeom prst="rect">
            <a:avLst/>
          </a:prstGeom>
        </p:spPr>
        <p:txBody>
          <a:bodyPr anchor="t" rtlCol="false" tIns="0" lIns="0" bIns="0" rIns="0">
            <a:spAutoFit/>
          </a:bodyPr>
          <a:lstStyle/>
          <a:p>
            <a:pPr algn="l">
              <a:lnSpc>
                <a:spcPts val="6733"/>
              </a:lnSpc>
            </a:pPr>
            <a:r>
              <a:rPr lang="en-US" b="true" sz="5906" spc="-129">
                <a:solidFill>
                  <a:srgbClr val="000000"/>
                </a:solidFill>
                <a:latin typeface="Canva Sans Bold"/>
                <a:ea typeface="Canva Sans Bold"/>
                <a:cs typeface="Canva Sans Bold"/>
                <a:sym typeface="Canva Sans Bold"/>
              </a:rPr>
              <a:t>MODEL BUILDING</a:t>
            </a:r>
          </a:p>
        </p:txBody>
      </p:sp>
      <p:sp>
        <p:nvSpPr>
          <p:cNvPr name="TextBox 9" id="9"/>
          <p:cNvSpPr txBox="true"/>
          <p:nvPr/>
        </p:nvSpPr>
        <p:spPr>
          <a:xfrm rot="0">
            <a:off x="6728368" y="7210754"/>
            <a:ext cx="405155" cy="355913"/>
          </a:xfrm>
          <a:prstGeom prst="rect">
            <a:avLst/>
          </a:prstGeom>
        </p:spPr>
        <p:txBody>
          <a:bodyPr anchor="t" rtlCol="false" tIns="0" lIns="0" bIns="0" rIns="0">
            <a:spAutoFit/>
          </a:bodyPr>
          <a:lstStyle/>
          <a:p>
            <a:pPr algn="l">
              <a:lnSpc>
                <a:spcPts val="2957"/>
              </a:lnSpc>
            </a:pPr>
            <a:r>
              <a:rPr lang="en-US" b="true" sz="2112" spc="-33">
                <a:solidFill>
                  <a:srgbClr val="FFF8F0"/>
                </a:solidFill>
                <a:latin typeface="Canva Sans Bold"/>
                <a:ea typeface="Canva Sans Bold"/>
                <a:cs typeface="Canva Sans Bold"/>
                <a:sym typeface="Canva Sans Bold"/>
              </a:rPr>
              <a:t>3</a:t>
            </a:r>
          </a:p>
        </p:txBody>
      </p:sp>
      <p:sp>
        <p:nvSpPr>
          <p:cNvPr name="TextBox 10" id="10"/>
          <p:cNvSpPr txBox="true"/>
          <p:nvPr/>
        </p:nvSpPr>
        <p:spPr>
          <a:xfrm rot="0">
            <a:off x="1779570" y="1932061"/>
            <a:ext cx="10707907" cy="603553"/>
          </a:xfrm>
          <a:prstGeom prst="rect">
            <a:avLst/>
          </a:prstGeom>
        </p:spPr>
        <p:txBody>
          <a:bodyPr anchor="t" rtlCol="false" tIns="0" lIns="0" bIns="0" rIns="0">
            <a:spAutoFit/>
          </a:bodyPr>
          <a:lstStyle/>
          <a:p>
            <a:pPr algn="l">
              <a:lnSpc>
                <a:spcPts val="4795"/>
              </a:lnSpc>
            </a:pPr>
            <a:r>
              <a:rPr lang="en-US" b="true" sz="4206" spc="-92" u="sng">
                <a:solidFill>
                  <a:srgbClr val="000000"/>
                </a:solidFill>
                <a:latin typeface="Canva Sans Bold"/>
                <a:ea typeface="Canva Sans Bold"/>
                <a:cs typeface="Canva Sans Bold"/>
                <a:sym typeface="Canva Sans Bold"/>
              </a:rPr>
              <a:t>Classification models</a:t>
            </a:r>
          </a:p>
        </p:txBody>
      </p:sp>
      <p:sp>
        <p:nvSpPr>
          <p:cNvPr name="TextBox 11" id="11"/>
          <p:cNvSpPr txBox="true"/>
          <p:nvPr/>
        </p:nvSpPr>
        <p:spPr>
          <a:xfrm rot="0">
            <a:off x="1291367" y="9111614"/>
            <a:ext cx="16996633" cy="502969"/>
          </a:xfrm>
          <a:prstGeom prst="rect">
            <a:avLst/>
          </a:prstGeom>
        </p:spPr>
        <p:txBody>
          <a:bodyPr anchor="t" rtlCol="false" tIns="0" lIns="0" bIns="0" rIns="0">
            <a:spAutoFit/>
          </a:bodyPr>
          <a:lstStyle/>
          <a:p>
            <a:pPr algn="l">
              <a:lnSpc>
                <a:spcPts val="3997"/>
              </a:lnSpc>
            </a:pPr>
            <a:r>
              <a:rPr lang="en-US" sz="3506" spc="-77">
                <a:solidFill>
                  <a:srgbClr val="000000"/>
                </a:solidFill>
                <a:latin typeface="Canva Sans"/>
                <a:ea typeface="Canva Sans"/>
                <a:cs typeface="Canva Sans"/>
                <a:sym typeface="Canva Sans"/>
              </a:rPr>
              <a:t>Training and testing: Data split into training and test sets for model validation.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83561" y="-206027"/>
            <a:ext cx="1412261" cy="10699054"/>
            <a:chOff x="0" y="0"/>
            <a:chExt cx="371953" cy="2817858"/>
          </a:xfrm>
        </p:grpSpPr>
        <p:sp>
          <p:nvSpPr>
            <p:cNvPr name="Freeform 3" id="3"/>
            <p:cNvSpPr/>
            <p:nvPr/>
          </p:nvSpPr>
          <p:spPr>
            <a:xfrm flipH="false" flipV="false" rot="0">
              <a:off x="0" y="0"/>
              <a:ext cx="371953" cy="2817858"/>
            </a:xfrm>
            <a:custGeom>
              <a:avLst/>
              <a:gdLst/>
              <a:ahLst/>
              <a:cxnLst/>
              <a:rect r="r" b="b" t="t" l="l"/>
              <a:pathLst>
                <a:path h="2817858" w="371953">
                  <a:moveTo>
                    <a:pt x="0" y="0"/>
                  </a:moveTo>
                  <a:lnTo>
                    <a:pt x="371953" y="0"/>
                  </a:lnTo>
                  <a:lnTo>
                    <a:pt x="371953" y="2817858"/>
                  </a:lnTo>
                  <a:lnTo>
                    <a:pt x="0" y="2817858"/>
                  </a:lnTo>
                  <a:close/>
                </a:path>
              </a:pathLst>
            </a:custGeom>
            <a:solidFill>
              <a:srgbClr val="56A1A8"/>
            </a:solidFill>
          </p:spPr>
        </p:sp>
        <p:sp>
          <p:nvSpPr>
            <p:cNvPr name="TextBox 4" id="4"/>
            <p:cNvSpPr txBox="true"/>
            <p:nvPr/>
          </p:nvSpPr>
          <p:spPr>
            <a:xfrm>
              <a:off x="0" y="-28575"/>
              <a:ext cx="371953" cy="2846433"/>
            </a:xfrm>
            <a:prstGeom prst="rect">
              <a:avLst/>
            </a:prstGeom>
          </p:spPr>
          <p:txBody>
            <a:bodyPr anchor="ctr" rtlCol="false" tIns="50800" lIns="50800" bIns="50800" rIns="50800"/>
            <a:lstStyle/>
            <a:p>
              <a:pPr algn="ctr">
                <a:lnSpc>
                  <a:spcPts val="2366"/>
                </a:lnSpc>
              </a:pPr>
            </a:p>
          </p:txBody>
        </p:sp>
      </p:grpSp>
      <p:sp>
        <p:nvSpPr>
          <p:cNvPr name="Freeform 5" id="5"/>
          <p:cNvSpPr/>
          <p:nvPr/>
        </p:nvSpPr>
        <p:spPr>
          <a:xfrm flipH="false" flipV="false" rot="0">
            <a:off x="2889224" y="1644982"/>
            <a:ext cx="13818671" cy="7208975"/>
          </a:xfrm>
          <a:custGeom>
            <a:avLst/>
            <a:gdLst/>
            <a:ahLst/>
            <a:cxnLst/>
            <a:rect r="r" b="b" t="t" l="l"/>
            <a:pathLst>
              <a:path h="7208975" w="13818671">
                <a:moveTo>
                  <a:pt x="0" y="0"/>
                </a:moveTo>
                <a:lnTo>
                  <a:pt x="13818672" y="0"/>
                </a:lnTo>
                <a:lnTo>
                  <a:pt x="13818672" y="7208975"/>
                </a:lnTo>
                <a:lnTo>
                  <a:pt x="0" y="7208975"/>
                </a:lnTo>
                <a:lnTo>
                  <a:pt x="0" y="0"/>
                </a:lnTo>
                <a:close/>
              </a:path>
            </a:pathLst>
          </a:custGeom>
          <a:blipFill>
            <a:blip r:embed="rId2"/>
            <a:stretch>
              <a:fillRect l="0" t="0" r="0" b="0"/>
            </a:stretch>
          </a:blipFill>
        </p:spPr>
      </p:sp>
      <p:sp>
        <p:nvSpPr>
          <p:cNvPr name="TextBox 6" id="6"/>
          <p:cNvSpPr txBox="true"/>
          <p:nvPr/>
        </p:nvSpPr>
        <p:spPr>
          <a:xfrm rot="0">
            <a:off x="6728368" y="4519776"/>
            <a:ext cx="405155" cy="355913"/>
          </a:xfrm>
          <a:prstGeom prst="rect">
            <a:avLst/>
          </a:prstGeom>
        </p:spPr>
        <p:txBody>
          <a:bodyPr anchor="t" rtlCol="false" tIns="0" lIns="0" bIns="0" rIns="0">
            <a:spAutoFit/>
          </a:bodyPr>
          <a:lstStyle/>
          <a:p>
            <a:pPr algn="l">
              <a:lnSpc>
                <a:spcPts val="2957"/>
              </a:lnSpc>
            </a:pPr>
            <a:r>
              <a:rPr lang="en-US" b="true" sz="2112" spc="-33">
                <a:solidFill>
                  <a:srgbClr val="FFF8F0"/>
                </a:solidFill>
                <a:latin typeface="Canva Sans Bold"/>
                <a:ea typeface="Canva Sans Bold"/>
                <a:cs typeface="Canva Sans Bold"/>
                <a:sym typeface="Canva Sans Bold"/>
              </a:rPr>
              <a:t>1</a:t>
            </a:r>
          </a:p>
        </p:txBody>
      </p:sp>
      <p:sp>
        <p:nvSpPr>
          <p:cNvPr name="TextBox 7" id="7"/>
          <p:cNvSpPr txBox="true"/>
          <p:nvPr/>
        </p:nvSpPr>
        <p:spPr>
          <a:xfrm rot="0">
            <a:off x="6728368" y="5865265"/>
            <a:ext cx="405155" cy="355913"/>
          </a:xfrm>
          <a:prstGeom prst="rect">
            <a:avLst/>
          </a:prstGeom>
        </p:spPr>
        <p:txBody>
          <a:bodyPr anchor="t" rtlCol="false" tIns="0" lIns="0" bIns="0" rIns="0">
            <a:spAutoFit/>
          </a:bodyPr>
          <a:lstStyle/>
          <a:p>
            <a:pPr algn="l">
              <a:lnSpc>
                <a:spcPts val="2957"/>
              </a:lnSpc>
            </a:pPr>
            <a:r>
              <a:rPr lang="en-US" b="true" sz="2112" spc="-33">
                <a:solidFill>
                  <a:srgbClr val="FFF8F0"/>
                </a:solidFill>
                <a:latin typeface="Canva Sans Bold"/>
                <a:ea typeface="Canva Sans Bold"/>
                <a:cs typeface="Canva Sans Bold"/>
                <a:sym typeface="Canva Sans Bold"/>
              </a:rPr>
              <a:t>2</a:t>
            </a:r>
          </a:p>
        </p:txBody>
      </p:sp>
      <p:sp>
        <p:nvSpPr>
          <p:cNvPr name="TextBox 8" id="8"/>
          <p:cNvSpPr txBox="true"/>
          <p:nvPr/>
        </p:nvSpPr>
        <p:spPr>
          <a:xfrm rot="0">
            <a:off x="1742137" y="9201150"/>
            <a:ext cx="16112845" cy="465217"/>
          </a:xfrm>
          <a:prstGeom prst="rect">
            <a:avLst/>
          </a:prstGeom>
        </p:spPr>
        <p:txBody>
          <a:bodyPr anchor="t" rtlCol="false" tIns="0" lIns="0" bIns="0" rIns="0">
            <a:spAutoFit/>
          </a:bodyPr>
          <a:lstStyle/>
          <a:p>
            <a:pPr algn="just">
              <a:lnSpc>
                <a:spcPts val="3758"/>
              </a:lnSpc>
            </a:pPr>
            <a:r>
              <a:rPr lang="en-US" sz="2684" spc="26">
                <a:solidFill>
                  <a:srgbClr val="2B2E3C"/>
                </a:solidFill>
                <a:latin typeface="Canva Sans"/>
                <a:ea typeface="Canva Sans"/>
                <a:cs typeface="Canva Sans"/>
                <a:sym typeface="Canva Sans"/>
              </a:rPr>
              <a:t>Top performance models are GaussianNB, AdaBoost Classifier,KNN, and XGBClassifier. </a:t>
            </a:r>
          </a:p>
        </p:txBody>
      </p:sp>
      <p:sp>
        <p:nvSpPr>
          <p:cNvPr name="TextBox 9" id="9"/>
          <p:cNvSpPr txBox="true"/>
          <p:nvPr/>
        </p:nvSpPr>
        <p:spPr>
          <a:xfrm rot="0">
            <a:off x="1779570" y="605385"/>
            <a:ext cx="10707907" cy="884731"/>
          </a:xfrm>
          <a:prstGeom prst="rect">
            <a:avLst/>
          </a:prstGeom>
        </p:spPr>
        <p:txBody>
          <a:bodyPr anchor="t" rtlCol="false" tIns="0" lIns="0" bIns="0" rIns="0">
            <a:spAutoFit/>
          </a:bodyPr>
          <a:lstStyle/>
          <a:p>
            <a:pPr algn="l">
              <a:lnSpc>
                <a:spcPts val="6961"/>
              </a:lnSpc>
            </a:pPr>
            <a:r>
              <a:rPr lang="en-US" b="true" sz="6106" spc="-134">
                <a:solidFill>
                  <a:srgbClr val="000000"/>
                </a:solidFill>
                <a:latin typeface="Canva Sans Bold"/>
                <a:ea typeface="Canva Sans Bold"/>
                <a:cs typeface="Canva Sans Bold"/>
                <a:sym typeface="Canva Sans Bold"/>
              </a:rPr>
              <a:t>Model Performance</a:t>
            </a:r>
          </a:p>
        </p:txBody>
      </p:sp>
      <p:sp>
        <p:nvSpPr>
          <p:cNvPr name="TextBox 10" id="10"/>
          <p:cNvSpPr txBox="true"/>
          <p:nvPr/>
        </p:nvSpPr>
        <p:spPr>
          <a:xfrm rot="0">
            <a:off x="6728368" y="7210754"/>
            <a:ext cx="405155" cy="355913"/>
          </a:xfrm>
          <a:prstGeom prst="rect">
            <a:avLst/>
          </a:prstGeom>
        </p:spPr>
        <p:txBody>
          <a:bodyPr anchor="t" rtlCol="false" tIns="0" lIns="0" bIns="0" rIns="0">
            <a:spAutoFit/>
          </a:bodyPr>
          <a:lstStyle/>
          <a:p>
            <a:pPr algn="l">
              <a:lnSpc>
                <a:spcPts val="2957"/>
              </a:lnSpc>
            </a:pPr>
            <a:r>
              <a:rPr lang="en-US" b="true" sz="2112" spc="-33">
                <a:solidFill>
                  <a:srgbClr val="FFF8F0"/>
                </a:solidFill>
                <a:latin typeface="Canva Sans Bold"/>
                <a:ea typeface="Canva Sans Bold"/>
                <a:cs typeface="Canva Sans Bold"/>
                <a:sym typeface="Canva Sans Bold"/>
              </a:rPr>
              <a:t>3</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83561" y="-206027"/>
            <a:ext cx="1412261" cy="10699054"/>
            <a:chOff x="0" y="0"/>
            <a:chExt cx="371953" cy="2817858"/>
          </a:xfrm>
        </p:grpSpPr>
        <p:sp>
          <p:nvSpPr>
            <p:cNvPr name="Freeform 3" id="3"/>
            <p:cNvSpPr/>
            <p:nvPr/>
          </p:nvSpPr>
          <p:spPr>
            <a:xfrm flipH="false" flipV="false" rot="0">
              <a:off x="0" y="0"/>
              <a:ext cx="371953" cy="2817858"/>
            </a:xfrm>
            <a:custGeom>
              <a:avLst/>
              <a:gdLst/>
              <a:ahLst/>
              <a:cxnLst/>
              <a:rect r="r" b="b" t="t" l="l"/>
              <a:pathLst>
                <a:path h="2817858" w="371953">
                  <a:moveTo>
                    <a:pt x="0" y="0"/>
                  </a:moveTo>
                  <a:lnTo>
                    <a:pt x="371953" y="0"/>
                  </a:lnTo>
                  <a:lnTo>
                    <a:pt x="371953" y="2817858"/>
                  </a:lnTo>
                  <a:lnTo>
                    <a:pt x="0" y="2817858"/>
                  </a:lnTo>
                  <a:close/>
                </a:path>
              </a:pathLst>
            </a:custGeom>
            <a:solidFill>
              <a:srgbClr val="56A1A8"/>
            </a:solidFill>
          </p:spPr>
        </p:sp>
        <p:sp>
          <p:nvSpPr>
            <p:cNvPr name="TextBox 4" id="4"/>
            <p:cNvSpPr txBox="true"/>
            <p:nvPr/>
          </p:nvSpPr>
          <p:spPr>
            <a:xfrm>
              <a:off x="0" y="-28575"/>
              <a:ext cx="371953" cy="2846433"/>
            </a:xfrm>
            <a:prstGeom prst="rect">
              <a:avLst/>
            </a:prstGeom>
          </p:spPr>
          <p:txBody>
            <a:bodyPr anchor="ctr" rtlCol="false" tIns="50800" lIns="50800" bIns="50800" rIns="50800"/>
            <a:lstStyle/>
            <a:p>
              <a:pPr algn="ctr">
                <a:lnSpc>
                  <a:spcPts val="2366"/>
                </a:lnSpc>
              </a:pPr>
            </a:p>
          </p:txBody>
        </p:sp>
      </p:grpSp>
      <p:sp>
        <p:nvSpPr>
          <p:cNvPr name="Freeform 5" id="5"/>
          <p:cNvSpPr/>
          <p:nvPr/>
        </p:nvSpPr>
        <p:spPr>
          <a:xfrm flipH="false" flipV="false" rot="0">
            <a:off x="4152348" y="545443"/>
            <a:ext cx="10420139" cy="7328449"/>
          </a:xfrm>
          <a:custGeom>
            <a:avLst/>
            <a:gdLst/>
            <a:ahLst/>
            <a:cxnLst/>
            <a:rect r="r" b="b" t="t" l="l"/>
            <a:pathLst>
              <a:path h="7328449" w="10420139">
                <a:moveTo>
                  <a:pt x="0" y="0"/>
                </a:moveTo>
                <a:lnTo>
                  <a:pt x="10420139" y="0"/>
                </a:lnTo>
                <a:lnTo>
                  <a:pt x="10420139" y="7328449"/>
                </a:lnTo>
                <a:lnTo>
                  <a:pt x="0" y="7328449"/>
                </a:lnTo>
                <a:lnTo>
                  <a:pt x="0" y="0"/>
                </a:lnTo>
                <a:close/>
              </a:path>
            </a:pathLst>
          </a:custGeom>
          <a:blipFill>
            <a:blip r:embed="rId2"/>
            <a:stretch>
              <a:fillRect l="0" t="0" r="0" b="0"/>
            </a:stretch>
          </a:blipFill>
        </p:spPr>
      </p:sp>
      <p:sp>
        <p:nvSpPr>
          <p:cNvPr name="TextBox 6" id="6"/>
          <p:cNvSpPr txBox="true"/>
          <p:nvPr/>
        </p:nvSpPr>
        <p:spPr>
          <a:xfrm rot="0">
            <a:off x="6728368" y="4519776"/>
            <a:ext cx="405155" cy="355913"/>
          </a:xfrm>
          <a:prstGeom prst="rect">
            <a:avLst/>
          </a:prstGeom>
        </p:spPr>
        <p:txBody>
          <a:bodyPr anchor="t" rtlCol="false" tIns="0" lIns="0" bIns="0" rIns="0">
            <a:spAutoFit/>
          </a:bodyPr>
          <a:lstStyle/>
          <a:p>
            <a:pPr algn="l">
              <a:lnSpc>
                <a:spcPts val="2957"/>
              </a:lnSpc>
            </a:pPr>
            <a:r>
              <a:rPr lang="en-US" b="true" sz="2112" spc="-33">
                <a:solidFill>
                  <a:srgbClr val="FFF8F0"/>
                </a:solidFill>
                <a:latin typeface="Canva Sans Bold"/>
                <a:ea typeface="Canva Sans Bold"/>
                <a:cs typeface="Canva Sans Bold"/>
                <a:sym typeface="Canva Sans Bold"/>
              </a:rPr>
              <a:t>1</a:t>
            </a:r>
          </a:p>
        </p:txBody>
      </p:sp>
      <p:sp>
        <p:nvSpPr>
          <p:cNvPr name="TextBox 7" id="7"/>
          <p:cNvSpPr txBox="true"/>
          <p:nvPr/>
        </p:nvSpPr>
        <p:spPr>
          <a:xfrm rot="0">
            <a:off x="6728368" y="5865265"/>
            <a:ext cx="405155" cy="355913"/>
          </a:xfrm>
          <a:prstGeom prst="rect">
            <a:avLst/>
          </a:prstGeom>
        </p:spPr>
        <p:txBody>
          <a:bodyPr anchor="t" rtlCol="false" tIns="0" lIns="0" bIns="0" rIns="0">
            <a:spAutoFit/>
          </a:bodyPr>
          <a:lstStyle/>
          <a:p>
            <a:pPr algn="l">
              <a:lnSpc>
                <a:spcPts val="2957"/>
              </a:lnSpc>
            </a:pPr>
            <a:r>
              <a:rPr lang="en-US" b="true" sz="2112" spc="-33">
                <a:solidFill>
                  <a:srgbClr val="FFF8F0"/>
                </a:solidFill>
                <a:latin typeface="Canva Sans Bold"/>
                <a:ea typeface="Canva Sans Bold"/>
                <a:cs typeface="Canva Sans Bold"/>
                <a:sym typeface="Canva Sans Bold"/>
              </a:rPr>
              <a:t>2</a:t>
            </a:r>
          </a:p>
        </p:txBody>
      </p:sp>
      <p:sp>
        <p:nvSpPr>
          <p:cNvPr name="TextBox 8" id="8"/>
          <p:cNvSpPr txBox="true"/>
          <p:nvPr/>
        </p:nvSpPr>
        <p:spPr>
          <a:xfrm rot="0">
            <a:off x="6728368" y="7210754"/>
            <a:ext cx="405155" cy="355913"/>
          </a:xfrm>
          <a:prstGeom prst="rect">
            <a:avLst/>
          </a:prstGeom>
        </p:spPr>
        <p:txBody>
          <a:bodyPr anchor="t" rtlCol="false" tIns="0" lIns="0" bIns="0" rIns="0">
            <a:spAutoFit/>
          </a:bodyPr>
          <a:lstStyle/>
          <a:p>
            <a:pPr algn="l">
              <a:lnSpc>
                <a:spcPts val="2957"/>
              </a:lnSpc>
            </a:pPr>
            <a:r>
              <a:rPr lang="en-US" b="true" sz="2112" spc="-33">
                <a:solidFill>
                  <a:srgbClr val="FFF8F0"/>
                </a:solidFill>
                <a:latin typeface="Canva Sans Bold"/>
                <a:ea typeface="Canva Sans Bold"/>
                <a:cs typeface="Canva Sans Bold"/>
                <a:sym typeface="Canva Sans Bold"/>
              </a:rPr>
              <a:t>3</a:t>
            </a:r>
          </a:p>
        </p:txBody>
      </p:sp>
      <p:sp>
        <p:nvSpPr>
          <p:cNvPr name="TextBox 9" id="9"/>
          <p:cNvSpPr txBox="true"/>
          <p:nvPr/>
        </p:nvSpPr>
        <p:spPr>
          <a:xfrm rot="0">
            <a:off x="1544124" y="8194040"/>
            <a:ext cx="15935858" cy="1581150"/>
          </a:xfrm>
          <a:prstGeom prst="rect">
            <a:avLst/>
          </a:prstGeom>
        </p:spPr>
        <p:txBody>
          <a:bodyPr anchor="t" rtlCol="false" tIns="0" lIns="0" bIns="0" rIns="0">
            <a:spAutoFit/>
          </a:bodyPr>
          <a:lstStyle/>
          <a:p>
            <a:pPr algn="just">
              <a:lnSpc>
                <a:spcPts val="4200"/>
              </a:lnSpc>
            </a:pPr>
            <a:r>
              <a:rPr lang="en-US" sz="3000">
                <a:solidFill>
                  <a:srgbClr val="000000"/>
                </a:solidFill>
                <a:latin typeface="Canva Sans"/>
                <a:ea typeface="Canva Sans"/>
                <a:cs typeface="Canva Sans"/>
                <a:sym typeface="Canva Sans"/>
              </a:rPr>
              <a:t>Looking at these models that created the best scores are obtained by the models are XGBClassifier, Decision Tree, Gradient Boost Classifier and AdaBoostClassifier. The model we selected among these is XGBClassifier.</a:t>
            </a:r>
          </a:p>
        </p:txBody>
      </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383561" y="-206027"/>
            <a:ext cx="1412261" cy="10699054"/>
            <a:chOff x="0" y="0"/>
            <a:chExt cx="371953" cy="2817858"/>
          </a:xfrm>
        </p:grpSpPr>
        <p:sp>
          <p:nvSpPr>
            <p:cNvPr name="Freeform 3" id="3"/>
            <p:cNvSpPr/>
            <p:nvPr/>
          </p:nvSpPr>
          <p:spPr>
            <a:xfrm flipH="false" flipV="false" rot="0">
              <a:off x="0" y="0"/>
              <a:ext cx="371953" cy="2817858"/>
            </a:xfrm>
            <a:custGeom>
              <a:avLst/>
              <a:gdLst/>
              <a:ahLst/>
              <a:cxnLst/>
              <a:rect r="r" b="b" t="t" l="l"/>
              <a:pathLst>
                <a:path h="2817858" w="371953">
                  <a:moveTo>
                    <a:pt x="0" y="0"/>
                  </a:moveTo>
                  <a:lnTo>
                    <a:pt x="371953" y="0"/>
                  </a:lnTo>
                  <a:lnTo>
                    <a:pt x="371953" y="2817858"/>
                  </a:lnTo>
                  <a:lnTo>
                    <a:pt x="0" y="2817858"/>
                  </a:lnTo>
                  <a:close/>
                </a:path>
              </a:pathLst>
            </a:custGeom>
            <a:solidFill>
              <a:srgbClr val="56A1A8"/>
            </a:solidFill>
          </p:spPr>
        </p:sp>
        <p:sp>
          <p:nvSpPr>
            <p:cNvPr name="TextBox 4" id="4"/>
            <p:cNvSpPr txBox="true"/>
            <p:nvPr/>
          </p:nvSpPr>
          <p:spPr>
            <a:xfrm>
              <a:off x="0" y="-28575"/>
              <a:ext cx="371953" cy="2846433"/>
            </a:xfrm>
            <a:prstGeom prst="rect">
              <a:avLst/>
            </a:prstGeom>
          </p:spPr>
          <p:txBody>
            <a:bodyPr anchor="ctr" rtlCol="false" tIns="50800" lIns="50800" bIns="50800" rIns="50800"/>
            <a:lstStyle/>
            <a:p>
              <a:pPr algn="ctr">
                <a:lnSpc>
                  <a:spcPts val="2366"/>
                </a:lnSpc>
              </a:pPr>
            </a:p>
          </p:txBody>
        </p:sp>
      </p:grpSp>
      <p:sp>
        <p:nvSpPr>
          <p:cNvPr name="TextBox 5" id="5"/>
          <p:cNvSpPr txBox="true"/>
          <p:nvPr/>
        </p:nvSpPr>
        <p:spPr>
          <a:xfrm rot="0">
            <a:off x="6728368" y="4519776"/>
            <a:ext cx="405155" cy="355913"/>
          </a:xfrm>
          <a:prstGeom prst="rect">
            <a:avLst/>
          </a:prstGeom>
        </p:spPr>
        <p:txBody>
          <a:bodyPr anchor="t" rtlCol="false" tIns="0" lIns="0" bIns="0" rIns="0">
            <a:spAutoFit/>
          </a:bodyPr>
          <a:lstStyle/>
          <a:p>
            <a:pPr algn="l">
              <a:lnSpc>
                <a:spcPts val="2957"/>
              </a:lnSpc>
            </a:pPr>
            <a:r>
              <a:rPr lang="en-US" b="true" sz="2112" spc="-33">
                <a:solidFill>
                  <a:srgbClr val="FFF8F0"/>
                </a:solidFill>
                <a:latin typeface="Canva Sans Bold"/>
                <a:ea typeface="Canva Sans Bold"/>
                <a:cs typeface="Canva Sans Bold"/>
                <a:sym typeface="Canva Sans Bold"/>
              </a:rPr>
              <a:t>1</a:t>
            </a:r>
          </a:p>
        </p:txBody>
      </p:sp>
      <p:sp>
        <p:nvSpPr>
          <p:cNvPr name="TextBox 6" id="6"/>
          <p:cNvSpPr txBox="true"/>
          <p:nvPr/>
        </p:nvSpPr>
        <p:spPr>
          <a:xfrm rot="0">
            <a:off x="6728368" y="5865265"/>
            <a:ext cx="405155" cy="355913"/>
          </a:xfrm>
          <a:prstGeom prst="rect">
            <a:avLst/>
          </a:prstGeom>
        </p:spPr>
        <p:txBody>
          <a:bodyPr anchor="t" rtlCol="false" tIns="0" lIns="0" bIns="0" rIns="0">
            <a:spAutoFit/>
          </a:bodyPr>
          <a:lstStyle/>
          <a:p>
            <a:pPr algn="l">
              <a:lnSpc>
                <a:spcPts val="2957"/>
              </a:lnSpc>
            </a:pPr>
            <a:r>
              <a:rPr lang="en-US" b="true" sz="2112" spc="-33">
                <a:solidFill>
                  <a:srgbClr val="FFF8F0"/>
                </a:solidFill>
                <a:latin typeface="Canva Sans Bold"/>
                <a:ea typeface="Canva Sans Bold"/>
                <a:cs typeface="Canva Sans Bold"/>
                <a:sym typeface="Canva Sans Bold"/>
              </a:rPr>
              <a:t>2</a:t>
            </a:r>
          </a:p>
        </p:txBody>
      </p:sp>
      <p:sp>
        <p:nvSpPr>
          <p:cNvPr name="TextBox 7" id="7"/>
          <p:cNvSpPr txBox="true"/>
          <p:nvPr/>
        </p:nvSpPr>
        <p:spPr>
          <a:xfrm rot="0">
            <a:off x="1358745" y="2789868"/>
            <a:ext cx="15570511" cy="6007428"/>
          </a:xfrm>
          <a:prstGeom prst="rect">
            <a:avLst/>
          </a:prstGeom>
        </p:spPr>
        <p:txBody>
          <a:bodyPr anchor="t" rtlCol="false" tIns="0" lIns="0" bIns="0" rIns="0">
            <a:spAutoFit/>
          </a:bodyPr>
          <a:lstStyle/>
          <a:p>
            <a:pPr algn="just" marL="748081" indent="-374040" lvl="1">
              <a:lnSpc>
                <a:spcPts val="4850"/>
              </a:lnSpc>
              <a:buFont typeface="Arial"/>
              <a:buChar char="•"/>
            </a:pPr>
            <a:r>
              <a:rPr lang="en-US" sz="3464" spc="34">
                <a:solidFill>
                  <a:srgbClr val="000000"/>
                </a:solidFill>
                <a:latin typeface="Canva Sans"/>
                <a:ea typeface="Canva Sans"/>
                <a:cs typeface="Canva Sans"/>
                <a:sym typeface="Canva Sans"/>
              </a:rPr>
              <a:t>Model evaluation was performed on a completely unseen testing set.</a:t>
            </a:r>
          </a:p>
          <a:p>
            <a:pPr algn="just">
              <a:lnSpc>
                <a:spcPts val="4850"/>
              </a:lnSpc>
            </a:pPr>
          </a:p>
          <a:p>
            <a:pPr algn="just" marL="704902" indent="-352451" lvl="1">
              <a:lnSpc>
                <a:spcPts val="4570"/>
              </a:lnSpc>
              <a:buFont typeface="Arial"/>
              <a:buChar char="•"/>
            </a:pPr>
            <a:r>
              <a:rPr lang="en-US" sz="3264" spc="32">
                <a:solidFill>
                  <a:srgbClr val="000000"/>
                </a:solidFill>
                <a:latin typeface="Canva Sans"/>
                <a:ea typeface="Canva Sans"/>
                <a:cs typeface="Canva Sans"/>
                <a:sym typeface="Canva Sans"/>
              </a:rPr>
              <a:t>Metrics: Accuracy, Precision, Recall, F1-Score, and Confusion Matrix </a:t>
            </a:r>
            <a:r>
              <a:rPr lang="en-US" sz="3264" spc="32">
                <a:solidFill>
                  <a:srgbClr val="000000"/>
                </a:solidFill>
                <a:latin typeface="Canva Sans"/>
                <a:ea typeface="Canva Sans"/>
                <a:cs typeface="Canva Sans"/>
                <a:sym typeface="Canva Sans"/>
              </a:rPr>
              <a:t>were used, with emphasis on Recall because missing fraud transactions can cause financial loss. </a:t>
            </a:r>
          </a:p>
          <a:p>
            <a:pPr algn="just">
              <a:lnSpc>
                <a:spcPts val="4570"/>
              </a:lnSpc>
            </a:pPr>
          </a:p>
          <a:p>
            <a:pPr algn="l" marL="726491" indent="-363246" lvl="1">
              <a:lnSpc>
                <a:spcPts val="4710"/>
              </a:lnSpc>
              <a:buFont typeface="Arial"/>
              <a:buChar char="•"/>
            </a:pPr>
            <a:r>
              <a:rPr lang="en-US" sz="3364" spc="33">
                <a:solidFill>
                  <a:srgbClr val="000000"/>
                </a:solidFill>
                <a:latin typeface="Canva Sans"/>
                <a:ea typeface="Canva Sans"/>
                <a:cs typeface="Canva Sans"/>
                <a:sym typeface="Canva Sans"/>
              </a:rPr>
              <a:t>Hyperparameter tuning was conducted using GridSearchCV to find </a:t>
            </a:r>
            <a:r>
              <a:rPr lang="en-US" sz="3364" spc="33">
                <a:solidFill>
                  <a:srgbClr val="000000"/>
                </a:solidFill>
                <a:latin typeface="Canva Sans"/>
                <a:ea typeface="Canva Sans"/>
                <a:cs typeface="Canva Sans"/>
                <a:sym typeface="Canva Sans"/>
              </a:rPr>
              <a:t>the best parameters and to improve model performance.</a:t>
            </a:r>
          </a:p>
          <a:p>
            <a:pPr algn="just">
              <a:lnSpc>
                <a:spcPts val="5962"/>
              </a:lnSpc>
            </a:pPr>
          </a:p>
        </p:txBody>
      </p:sp>
      <p:sp>
        <p:nvSpPr>
          <p:cNvPr name="TextBox 8" id="8"/>
          <p:cNvSpPr txBox="true"/>
          <p:nvPr/>
        </p:nvSpPr>
        <p:spPr>
          <a:xfrm rot="0">
            <a:off x="1779570" y="1328171"/>
            <a:ext cx="10707907" cy="843583"/>
          </a:xfrm>
          <a:prstGeom prst="rect">
            <a:avLst/>
          </a:prstGeom>
        </p:spPr>
        <p:txBody>
          <a:bodyPr anchor="t" rtlCol="false" tIns="0" lIns="0" bIns="0" rIns="0">
            <a:spAutoFit/>
          </a:bodyPr>
          <a:lstStyle/>
          <a:p>
            <a:pPr algn="l">
              <a:lnSpc>
                <a:spcPts val="6505"/>
              </a:lnSpc>
            </a:pPr>
            <a:r>
              <a:rPr lang="en-US" b="true" sz="5706" spc="-125">
                <a:solidFill>
                  <a:srgbClr val="000000"/>
                </a:solidFill>
                <a:latin typeface="Canva Sans Bold"/>
                <a:ea typeface="Canva Sans Bold"/>
                <a:cs typeface="Canva Sans Bold"/>
                <a:sym typeface="Canva Sans Bold"/>
              </a:rPr>
              <a:t>MODEL EVALUATION</a:t>
            </a:r>
          </a:p>
        </p:txBody>
      </p:sp>
      <p:sp>
        <p:nvSpPr>
          <p:cNvPr name="TextBox 9" id="9"/>
          <p:cNvSpPr txBox="true"/>
          <p:nvPr/>
        </p:nvSpPr>
        <p:spPr>
          <a:xfrm rot="0">
            <a:off x="6728368" y="7210754"/>
            <a:ext cx="405155" cy="355913"/>
          </a:xfrm>
          <a:prstGeom prst="rect">
            <a:avLst/>
          </a:prstGeom>
        </p:spPr>
        <p:txBody>
          <a:bodyPr anchor="t" rtlCol="false" tIns="0" lIns="0" bIns="0" rIns="0">
            <a:spAutoFit/>
          </a:bodyPr>
          <a:lstStyle/>
          <a:p>
            <a:pPr algn="l">
              <a:lnSpc>
                <a:spcPts val="2957"/>
              </a:lnSpc>
            </a:pPr>
            <a:r>
              <a:rPr lang="en-US" b="true" sz="2112" spc="-33">
                <a:solidFill>
                  <a:srgbClr val="FFF8F0"/>
                </a:solidFill>
                <a:latin typeface="Canva Sans Bold"/>
                <a:ea typeface="Canva Sans Bold"/>
                <a:cs typeface="Canva Sans Bold"/>
                <a:sym typeface="Canva Sans Bold"/>
              </a:rPr>
              <a:t>3</a:t>
            </a:r>
          </a:p>
        </p:txBody>
      </p:sp>
    </p:spTree>
  </p:cSld>
  <p:clrMapOvr>
    <a:masterClrMapping/>
  </p:clrMapOvr>
</p:sld>
</file>

<file path=ppt/slides/slide1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383561" y="-206027"/>
            <a:ext cx="1412261" cy="10699054"/>
            <a:chOff x="0" y="0"/>
            <a:chExt cx="371953" cy="2817858"/>
          </a:xfrm>
        </p:grpSpPr>
        <p:sp>
          <p:nvSpPr>
            <p:cNvPr name="Freeform 3" id="3"/>
            <p:cNvSpPr/>
            <p:nvPr/>
          </p:nvSpPr>
          <p:spPr>
            <a:xfrm flipH="false" flipV="false" rot="0">
              <a:off x="0" y="0"/>
              <a:ext cx="371953" cy="2817858"/>
            </a:xfrm>
            <a:custGeom>
              <a:avLst/>
              <a:gdLst/>
              <a:ahLst/>
              <a:cxnLst/>
              <a:rect r="r" b="b" t="t" l="l"/>
              <a:pathLst>
                <a:path h="2817858" w="371953">
                  <a:moveTo>
                    <a:pt x="0" y="0"/>
                  </a:moveTo>
                  <a:lnTo>
                    <a:pt x="371953" y="0"/>
                  </a:lnTo>
                  <a:lnTo>
                    <a:pt x="371953" y="2817858"/>
                  </a:lnTo>
                  <a:lnTo>
                    <a:pt x="0" y="2817858"/>
                  </a:lnTo>
                  <a:close/>
                </a:path>
              </a:pathLst>
            </a:custGeom>
            <a:solidFill>
              <a:srgbClr val="56A1A8"/>
            </a:solidFill>
          </p:spPr>
        </p:sp>
        <p:sp>
          <p:nvSpPr>
            <p:cNvPr name="TextBox 4" id="4"/>
            <p:cNvSpPr txBox="true"/>
            <p:nvPr/>
          </p:nvSpPr>
          <p:spPr>
            <a:xfrm>
              <a:off x="0" y="-28575"/>
              <a:ext cx="371953" cy="2846433"/>
            </a:xfrm>
            <a:prstGeom prst="rect">
              <a:avLst/>
            </a:prstGeom>
          </p:spPr>
          <p:txBody>
            <a:bodyPr anchor="ctr" rtlCol="false" tIns="50800" lIns="50800" bIns="50800" rIns="50800"/>
            <a:lstStyle/>
            <a:p>
              <a:pPr algn="ctr">
                <a:lnSpc>
                  <a:spcPts val="2366"/>
                </a:lnSpc>
              </a:pPr>
            </a:p>
          </p:txBody>
        </p:sp>
      </p:grpSp>
      <p:sp>
        <p:nvSpPr>
          <p:cNvPr name="TextBox 5" id="5"/>
          <p:cNvSpPr txBox="true"/>
          <p:nvPr/>
        </p:nvSpPr>
        <p:spPr>
          <a:xfrm rot="0">
            <a:off x="6728368" y="4519776"/>
            <a:ext cx="405155" cy="355913"/>
          </a:xfrm>
          <a:prstGeom prst="rect">
            <a:avLst/>
          </a:prstGeom>
        </p:spPr>
        <p:txBody>
          <a:bodyPr anchor="t" rtlCol="false" tIns="0" lIns="0" bIns="0" rIns="0">
            <a:spAutoFit/>
          </a:bodyPr>
          <a:lstStyle/>
          <a:p>
            <a:pPr algn="l">
              <a:lnSpc>
                <a:spcPts val="2957"/>
              </a:lnSpc>
            </a:pPr>
            <a:r>
              <a:rPr lang="en-US" b="true" sz="2112" spc="-33">
                <a:solidFill>
                  <a:srgbClr val="FFF8F0"/>
                </a:solidFill>
                <a:latin typeface="Canva Sans Bold"/>
                <a:ea typeface="Canva Sans Bold"/>
                <a:cs typeface="Canva Sans Bold"/>
                <a:sym typeface="Canva Sans Bold"/>
              </a:rPr>
              <a:t>1</a:t>
            </a:r>
          </a:p>
        </p:txBody>
      </p:sp>
      <p:sp>
        <p:nvSpPr>
          <p:cNvPr name="TextBox 6" id="6"/>
          <p:cNvSpPr txBox="true"/>
          <p:nvPr/>
        </p:nvSpPr>
        <p:spPr>
          <a:xfrm rot="0">
            <a:off x="6728368" y="5865265"/>
            <a:ext cx="405155" cy="355913"/>
          </a:xfrm>
          <a:prstGeom prst="rect">
            <a:avLst/>
          </a:prstGeom>
        </p:spPr>
        <p:txBody>
          <a:bodyPr anchor="t" rtlCol="false" tIns="0" lIns="0" bIns="0" rIns="0">
            <a:spAutoFit/>
          </a:bodyPr>
          <a:lstStyle/>
          <a:p>
            <a:pPr algn="l">
              <a:lnSpc>
                <a:spcPts val="2957"/>
              </a:lnSpc>
            </a:pPr>
            <a:r>
              <a:rPr lang="en-US" b="true" sz="2112" spc="-33">
                <a:solidFill>
                  <a:srgbClr val="FFF8F0"/>
                </a:solidFill>
                <a:latin typeface="Canva Sans Bold"/>
                <a:ea typeface="Canva Sans Bold"/>
                <a:cs typeface="Canva Sans Bold"/>
                <a:sym typeface="Canva Sans Bold"/>
              </a:rPr>
              <a:t>2</a:t>
            </a:r>
          </a:p>
        </p:txBody>
      </p:sp>
      <p:sp>
        <p:nvSpPr>
          <p:cNvPr name="TextBox 7" id="7"/>
          <p:cNvSpPr txBox="true"/>
          <p:nvPr/>
        </p:nvSpPr>
        <p:spPr>
          <a:xfrm rot="0">
            <a:off x="1323692" y="1654585"/>
            <a:ext cx="16271564" cy="5297439"/>
          </a:xfrm>
          <a:prstGeom prst="rect">
            <a:avLst/>
          </a:prstGeom>
        </p:spPr>
        <p:txBody>
          <a:bodyPr anchor="t" rtlCol="false" tIns="0" lIns="0" bIns="0" rIns="0">
            <a:spAutoFit/>
          </a:bodyPr>
          <a:lstStyle/>
          <a:p>
            <a:pPr algn="just">
              <a:lnSpc>
                <a:spcPts val="5350"/>
              </a:lnSpc>
            </a:pPr>
            <a:r>
              <a:rPr lang="en-US" b="true" sz="3664" spc="36" u="sng">
                <a:solidFill>
                  <a:srgbClr val="000000"/>
                </a:solidFill>
                <a:latin typeface="Canva Sans Bold"/>
                <a:ea typeface="Canva Sans Bold"/>
                <a:cs typeface="Canva Sans Bold"/>
                <a:sym typeface="Canva Sans Bold"/>
              </a:rPr>
              <a:t>Key findings:</a:t>
            </a:r>
          </a:p>
          <a:p>
            <a:pPr algn="just" marL="683312" indent="-341656" lvl="1">
              <a:lnSpc>
                <a:spcPts val="4620"/>
              </a:lnSpc>
              <a:buFont typeface="Arial"/>
              <a:buChar char="•"/>
            </a:pPr>
            <a:r>
              <a:rPr lang="en-US" sz="3164" spc="31">
                <a:solidFill>
                  <a:srgbClr val="000000"/>
                </a:solidFill>
                <a:latin typeface="Canva Sans"/>
                <a:ea typeface="Canva Sans"/>
                <a:cs typeface="Canva Sans"/>
                <a:sym typeface="Canva Sans"/>
              </a:rPr>
              <a:t>The dataset was highly imbalanced, with fraud transactions much lower than non-fraud transactions.</a:t>
            </a:r>
          </a:p>
          <a:p>
            <a:pPr algn="just" marL="683312" indent="-341656" lvl="1">
              <a:lnSpc>
                <a:spcPts val="4620"/>
              </a:lnSpc>
              <a:buFont typeface="Arial"/>
              <a:buChar char="•"/>
            </a:pPr>
            <a:r>
              <a:rPr lang="en-US" sz="3164" spc="31">
                <a:solidFill>
                  <a:srgbClr val="000000"/>
                </a:solidFill>
                <a:latin typeface="Canva Sans"/>
                <a:ea typeface="Canva Sans"/>
                <a:cs typeface="Canva Sans"/>
                <a:sym typeface="Canva Sans"/>
              </a:rPr>
              <a:t>SMOTE oversampling and Hyperparameter tuning using GridSearchCV improved model performance and reduced overfitting.</a:t>
            </a:r>
          </a:p>
          <a:p>
            <a:pPr algn="just" marL="683312" indent="-341656" lvl="1">
              <a:lnSpc>
                <a:spcPts val="4620"/>
              </a:lnSpc>
              <a:buFont typeface="Arial"/>
              <a:buChar char="•"/>
            </a:pPr>
            <a:r>
              <a:rPr lang="en-US" sz="3164" spc="31">
                <a:solidFill>
                  <a:srgbClr val="000000"/>
                </a:solidFill>
                <a:latin typeface="Canva Sans"/>
                <a:ea typeface="Canva Sans"/>
                <a:cs typeface="Canva Sans"/>
                <a:sym typeface="Canva Sans"/>
              </a:rPr>
              <a:t>XGBClassifier was selected for deployment because of its high accuracy, strong fraud detection capability, and better generalization performance.</a:t>
            </a:r>
          </a:p>
          <a:p>
            <a:pPr algn="just" marL="683312" indent="-341656" lvl="1">
              <a:lnSpc>
                <a:spcPts val="4620"/>
              </a:lnSpc>
              <a:buFont typeface="Arial"/>
              <a:buChar char="•"/>
            </a:pPr>
            <a:r>
              <a:rPr lang="en-US" sz="3164" spc="31">
                <a:solidFill>
                  <a:srgbClr val="000000"/>
                </a:solidFill>
                <a:latin typeface="Canva Sans"/>
                <a:ea typeface="Canva Sans"/>
                <a:cs typeface="Canva Sans"/>
                <a:sym typeface="Canva Sans"/>
              </a:rPr>
              <a:t>Features such as transactions in last 24hrs and no of declined transactions played an important role in fraud detection.</a:t>
            </a:r>
          </a:p>
        </p:txBody>
      </p:sp>
      <p:sp>
        <p:nvSpPr>
          <p:cNvPr name="TextBox 8" id="8"/>
          <p:cNvSpPr txBox="true"/>
          <p:nvPr/>
        </p:nvSpPr>
        <p:spPr>
          <a:xfrm rot="0">
            <a:off x="3206818" y="494093"/>
            <a:ext cx="14388437" cy="794434"/>
          </a:xfrm>
          <a:prstGeom prst="rect">
            <a:avLst/>
          </a:prstGeom>
        </p:spPr>
        <p:txBody>
          <a:bodyPr anchor="t" rtlCol="false" tIns="0" lIns="0" bIns="0" rIns="0">
            <a:spAutoFit/>
          </a:bodyPr>
          <a:lstStyle/>
          <a:p>
            <a:pPr algn="l">
              <a:lnSpc>
                <a:spcPts val="6277"/>
              </a:lnSpc>
            </a:pPr>
            <a:r>
              <a:rPr lang="en-US" b="true" sz="5506" spc="-121">
                <a:solidFill>
                  <a:srgbClr val="000000"/>
                </a:solidFill>
                <a:latin typeface="Canva Sans Bold"/>
                <a:ea typeface="Canva Sans Bold"/>
                <a:cs typeface="Canva Sans Bold"/>
                <a:sym typeface="Canva Sans Bold"/>
              </a:rPr>
              <a:t>INSIGHTS AND RECOMMENDATIONS</a:t>
            </a:r>
          </a:p>
        </p:txBody>
      </p:sp>
      <p:sp>
        <p:nvSpPr>
          <p:cNvPr name="TextBox 9" id="9"/>
          <p:cNvSpPr txBox="true"/>
          <p:nvPr/>
        </p:nvSpPr>
        <p:spPr>
          <a:xfrm rot="0">
            <a:off x="6728368" y="7210754"/>
            <a:ext cx="405155" cy="355913"/>
          </a:xfrm>
          <a:prstGeom prst="rect">
            <a:avLst/>
          </a:prstGeom>
        </p:spPr>
        <p:txBody>
          <a:bodyPr anchor="t" rtlCol="false" tIns="0" lIns="0" bIns="0" rIns="0">
            <a:spAutoFit/>
          </a:bodyPr>
          <a:lstStyle/>
          <a:p>
            <a:pPr algn="l">
              <a:lnSpc>
                <a:spcPts val="2957"/>
              </a:lnSpc>
            </a:pPr>
            <a:r>
              <a:rPr lang="en-US" b="true" sz="2112" spc="-33">
                <a:solidFill>
                  <a:srgbClr val="FFF8F0"/>
                </a:solidFill>
                <a:latin typeface="Canva Sans Bold"/>
                <a:ea typeface="Canva Sans Bold"/>
                <a:cs typeface="Canva Sans Bold"/>
                <a:sym typeface="Canva Sans Bold"/>
              </a:rPr>
              <a:t>3</a:t>
            </a:r>
          </a:p>
        </p:txBody>
      </p:sp>
      <p:sp>
        <p:nvSpPr>
          <p:cNvPr name="TextBox 10" id="10"/>
          <p:cNvSpPr txBox="true"/>
          <p:nvPr/>
        </p:nvSpPr>
        <p:spPr>
          <a:xfrm rot="0">
            <a:off x="1323692" y="7178071"/>
            <a:ext cx="16271564" cy="2358646"/>
          </a:xfrm>
          <a:prstGeom prst="rect">
            <a:avLst/>
          </a:prstGeom>
        </p:spPr>
        <p:txBody>
          <a:bodyPr anchor="t" rtlCol="false" tIns="0" lIns="0" bIns="0" rIns="0">
            <a:spAutoFit/>
          </a:bodyPr>
          <a:lstStyle/>
          <a:p>
            <a:pPr algn="just">
              <a:lnSpc>
                <a:spcPts val="5270"/>
              </a:lnSpc>
            </a:pPr>
            <a:r>
              <a:rPr lang="en-US" b="true" sz="3764" spc="37" u="sng">
                <a:solidFill>
                  <a:srgbClr val="000000"/>
                </a:solidFill>
                <a:latin typeface="Canva Sans Bold"/>
                <a:ea typeface="Canva Sans Bold"/>
                <a:cs typeface="Canva Sans Bold"/>
                <a:sym typeface="Canva Sans Bold"/>
              </a:rPr>
              <a:t>Recommendations:</a:t>
            </a:r>
          </a:p>
          <a:p>
            <a:pPr algn="l" marL="704902" indent="-352451" lvl="1">
              <a:lnSpc>
                <a:spcPts val="4570"/>
              </a:lnSpc>
              <a:buFont typeface="Arial"/>
              <a:buChar char="•"/>
            </a:pPr>
            <a:r>
              <a:rPr lang="en-US" sz="3264" spc="32">
                <a:solidFill>
                  <a:srgbClr val="000000"/>
                </a:solidFill>
                <a:latin typeface="Canva Sans"/>
                <a:ea typeface="Canva Sans"/>
                <a:cs typeface="Canva Sans"/>
                <a:sym typeface="Canva Sans"/>
              </a:rPr>
              <a:t>Use real-time fraud monitoring</a:t>
            </a:r>
          </a:p>
          <a:p>
            <a:pPr algn="l" marL="704902" indent="-352451" lvl="1">
              <a:lnSpc>
                <a:spcPts val="4570"/>
              </a:lnSpc>
              <a:buFont typeface="Arial"/>
              <a:buChar char="•"/>
            </a:pPr>
            <a:r>
              <a:rPr lang="en-US" sz="3264" spc="32">
                <a:solidFill>
                  <a:srgbClr val="000000"/>
                </a:solidFill>
                <a:latin typeface="Canva Sans"/>
                <a:ea typeface="Canva Sans"/>
                <a:cs typeface="Canva Sans"/>
                <a:sym typeface="Canva Sans"/>
              </a:rPr>
              <a:t>Continuously retrain models</a:t>
            </a:r>
          </a:p>
          <a:p>
            <a:pPr algn="l" marL="704902" indent="-352451" lvl="1">
              <a:lnSpc>
                <a:spcPts val="4570"/>
              </a:lnSpc>
              <a:buFont typeface="Arial"/>
              <a:buChar char="•"/>
            </a:pPr>
            <a:r>
              <a:rPr lang="en-US" sz="3264" spc="32">
                <a:solidFill>
                  <a:srgbClr val="000000"/>
                </a:solidFill>
                <a:latin typeface="Canva Sans"/>
                <a:ea typeface="Canva Sans"/>
                <a:cs typeface="Canva Sans"/>
                <a:sym typeface="Canva Sans"/>
              </a:rPr>
              <a:t>Integrate ML fraud alerts into banking system</a:t>
            </a:r>
          </a:p>
        </p:txBody>
      </p:sp>
    </p:spTree>
  </p:cSld>
  <p:clrMapOvr>
    <a:masterClrMapping/>
  </p:clrMapOvr>
</p:sld>
</file>

<file path=ppt/slides/slide1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383561" y="-206027"/>
            <a:ext cx="1412261" cy="10699054"/>
            <a:chOff x="0" y="0"/>
            <a:chExt cx="371953" cy="2817858"/>
          </a:xfrm>
        </p:grpSpPr>
        <p:sp>
          <p:nvSpPr>
            <p:cNvPr name="Freeform 3" id="3"/>
            <p:cNvSpPr/>
            <p:nvPr/>
          </p:nvSpPr>
          <p:spPr>
            <a:xfrm flipH="false" flipV="false" rot="0">
              <a:off x="0" y="0"/>
              <a:ext cx="371953" cy="2817858"/>
            </a:xfrm>
            <a:custGeom>
              <a:avLst/>
              <a:gdLst/>
              <a:ahLst/>
              <a:cxnLst/>
              <a:rect r="r" b="b" t="t" l="l"/>
              <a:pathLst>
                <a:path h="2817858" w="371953">
                  <a:moveTo>
                    <a:pt x="0" y="0"/>
                  </a:moveTo>
                  <a:lnTo>
                    <a:pt x="371953" y="0"/>
                  </a:lnTo>
                  <a:lnTo>
                    <a:pt x="371953" y="2817858"/>
                  </a:lnTo>
                  <a:lnTo>
                    <a:pt x="0" y="2817858"/>
                  </a:lnTo>
                  <a:close/>
                </a:path>
              </a:pathLst>
            </a:custGeom>
            <a:solidFill>
              <a:srgbClr val="56A1A8"/>
            </a:solidFill>
          </p:spPr>
        </p:sp>
        <p:sp>
          <p:nvSpPr>
            <p:cNvPr name="TextBox 4" id="4"/>
            <p:cNvSpPr txBox="true"/>
            <p:nvPr/>
          </p:nvSpPr>
          <p:spPr>
            <a:xfrm>
              <a:off x="0" y="-28575"/>
              <a:ext cx="371953" cy="2846433"/>
            </a:xfrm>
            <a:prstGeom prst="rect">
              <a:avLst/>
            </a:prstGeom>
          </p:spPr>
          <p:txBody>
            <a:bodyPr anchor="ctr" rtlCol="false" tIns="50800" lIns="50800" bIns="50800" rIns="50800"/>
            <a:lstStyle/>
            <a:p>
              <a:pPr algn="ctr">
                <a:lnSpc>
                  <a:spcPts val="2366"/>
                </a:lnSpc>
              </a:pPr>
            </a:p>
          </p:txBody>
        </p:sp>
      </p:grpSp>
      <p:sp>
        <p:nvSpPr>
          <p:cNvPr name="TextBox 5" id="5"/>
          <p:cNvSpPr txBox="true"/>
          <p:nvPr/>
        </p:nvSpPr>
        <p:spPr>
          <a:xfrm rot="0">
            <a:off x="6728368" y="4519776"/>
            <a:ext cx="405155" cy="355913"/>
          </a:xfrm>
          <a:prstGeom prst="rect">
            <a:avLst/>
          </a:prstGeom>
        </p:spPr>
        <p:txBody>
          <a:bodyPr anchor="t" rtlCol="false" tIns="0" lIns="0" bIns="0" rIns="0">
            <a:spAutoFit/>
          </a:bodyPr>
          <a:lstStyle/>
          <a:p>
            <a:pPr algn="l">
              <a:lnSpc>
                <a:spcPts val="2957"/>
              </a:lnSpc>
            </a:pPr>
            <a:r>
              <a:rPr lang="en-US" b="true" sz="2112" spc="-33">
                <a:solidFill>
                  <a:srgbClr val="FFF8F0"/>
                </a:solidFill>
                <a:latin typeface="Canva Sans Bold"/>
                <a:ea typeface="Canva Sans Bold"/>
                <a:cs typeface="Canva Sans Bold"/>
                <a:sym typeface="Canva Sans Bold"/>
              </a:rPr>
              <a:t>1</a:t>
            </a:r>
          </a:p>
        </p:txBody>
      </p:sp>
      <p:sp>
        <p:nvSpPr>
          <p:cNvPr name="TextBox 6" id="6"/>
          <p:cNvSpPr txBox="true"/>
          <p:nvPr/>
        </p:nvSpPr>
        <p:spPr>
          <a:xfrm rot="0">
            <a:off x="6728368" y="5865265"/>
            <a:ext cx="405155" cy="355913"/>
          </a:xfrm>
          <a:prstGeom prst="rect">
            <a:avLst/>
          </a:prstGeom>
        </p:spPr>
        <p:txBody>
          <a:bodyPr anchor="t" rtlCol="false" tIns="0" lIns="0" bIns="0" rIns="0">
            <a:spAutoFit/>
          </a:bodyPr>
          <a:lstStyle/>
          <a:p>
            <a:pPr algn="l">
              <a:lnSpc>
                <a:spcPts val="2957"/>
              </a:lnSpc>
            </a:pPr>
            <a:r>
              <a:rPr lang="en-US" b="true" sz="2112" spc="-33">
                <a:solidFill>
                  <a:srgbClr val="FFF8F0"/>
                </a:solidFill>
                <a:latin typeface="Canva Sans Bold"/>
                <a:ea typeface="Canva Sans Bold"/>
                <a:cs typeface="Canva Sans Bold"/>
                <a:sym typeface="Canva Sans Bold"/>
              </a:rPr>
              <a:t>2</a:t>
            </a:r>
          </a:p>
        </p:txBody>
      </p:sp>
      <p:sp>
        <p:nvSpPr>
          <p:cNvPr name="TextBox 7" id="7"/>
          <p:cNvSpPr txBox="true"/>
          <p:nvPr/>
        </p:nvSpPr>
        <p:spPr>
          <a:xfrm rot="0">
            <a:off x="1569124" y="2563581"/>
            <a:ext cx="15690176" cy="6135112"/>
          </a:xfrm>
          <a:prstGeom prst="rect">
            <a:avLst/>
          </a:prstGeom>
        </p:spPr>
        <p:txBody>
          <a:bodyPr anchor="t" rtlCol="false" tIns="0" lIns="0" bIns="0" rIns="0">
            <a:spAutoFit/>
          </a:bodyPr>
          <a:lstStyle/>
          <a:p>
            <a:pPr algn="just">
              <a:lnSpc>
                <a:spcPts val="5323"/>
              </a:lnSpc>
            </a:pPr>
            <a:r>
              <a:rPr lang="en-US" sz="3390" spc="33">
                <a:solidFill>
                  <a:srgbClr val="000000"/>
                </a:solidFill>
                <a:latin typeface="Canva Sans"/>
                <a:ea typeface="Canva Sans"/>
                <a:cs typeface="Canva Sans"/>
                <a:sym typeface="Canva Sans"/>
              </a:rPr>
              <a:t>This project successfully developed a machine learning-based credit card fraud detection system capable of identifying fraudulent transactions with high accuracy. It effectively addressed challenges posed by missing data and severe class imbalance and handled it welll through preprocessing techniques,oversampling and hyperparameter tuning. </a:t>
            </a:r>
          </a:p>
          <a:p>
            <a:pPr algn="just">
              <a:lnSpc>
                <a:spcPts val="5323"/>
              </a:lnSpc>
            </a:pPr>
          </a:p>
          <a:p>
            <a:pPr algn="just">
              <a:lnSpc>
                <a:spcPts val="5798"/>
              </a:lnSpc>
            </a:pPr>
            <a:r>
              <a:rPr lang="en-US" sz="3390" spc="33">
                <a:solidFill>
                  <a:srgbClr val="000000"/>
                </a:solidFill>
                <a:latin typeface="Canva Sans"/>
                <a:ea typeface="Canva Sans"/>
                <a:cs typeface="Canva Sans"/>
                <a:sym typeface="Canva Sans"/>
              </a:rPr>
              <a:t>The developed system can support real-time fraud monitoring and help financial institutions reduce financial risk and improve transaction security.</a:t>
            </a:r>
          </a:p>
        </p:txBody>
      </p:sp>
      <p:sp>
        <p:nvSpPr>
          <p:cNvPr name="TextBox 8" id="8"/>
          <p:cNvSpPr txBox="true"/>
          <p:nvPr/>
        </p:nvSpPr>
        <p:spPr>
          <a:xfrm rot="0">
            <a:off x="1779570" y="1047750"/>
            <a:ext cx="10707907" cy="843583"/>
          </a:xfrm>
          <a:prstGeom prst="rect">
            <a:avLst/>
          </a:prstGeom>
        </p:spPr>
        <p:txBody>
          <a:bodyPr anchor="t" rtlCol="false" tIns="0" lIns="0" bIns="0" rIns="0">
            <a:spAutoFit/>
          </a:bodyPr>
          <a:lstStyle/>
          <a:p>
            <a:pPr algn="l">
              <a:lnSpc>
                <a:spcPts val="6505"/>
              </a:lnSpc>
            </a:pPr>
            <a:r>
              <a:rPr lang="en-US" b="true" sz="5706" spc="-125">
                <a:solidFill>
                  <a:srgbClr val="000000"/>
                </a:solidFill>
                <a:latin typeface="Canva Sans Bold"/>
                <a:ea typeface="Canva Sans Bold"/>
                <a:cs typeface="Canva Sans Bold"/>
                <a:sym typeface="Canva Sans Bold"/>
              </a:rPr>
              <a:t>CONCLUSION</a:t>
            </a:r>
          </a:p>
        </p:txBody>
      </p:sp>
      <p:sp>
        <p:nvSpPr>
          <p:cNvPr name="TextBox 9" id="9"/>
          <p:cNvSpPr txBox="true"/>
          <p:nvPr/>
        </p:nvSpPr>
        <p:spPr>
          <a:xfrm rot="0">
            <a:off x="6728368" y="7210754"/>
            <a:ext cx="405155" cy="355913"/>
          </a:xfrm>
          <a:prstGeom prst="rect">
            <a:avLst/>
          </a:prstGeom>
        </p:spPr>
        <p:txBody>
          <a:bodyPr anchor="t" rtlCol="false" tIns="0" lIns="0" bIns="0" rIns="0">
            <a:spAutoFit/>
          </a:bodyPr>
          <a:lstStyle/>
          <a:p>
            <a:pPr algn="l">
              <a:lnSpc>
                <a:spcPts val="2957"/>
              </a:lnSpc>
            </a:pPr>
            <a:r>
              <a:rPr lang="en-US" b="true" sz="2112" spc="-33">
                <a:solidFill>
                  <a:srgbClr val="FFF8F0"/>
                </a:solidFill>
                <a:latin typeface="Canva Sans Bold"/>
                <a:ea typeface="Canva Sans Bold"/>
                <a:cs typeface="Canva Sans Bold"/>
                <a:sym typeface="Canva Sans Bold"/>
              </a:rPr>
              <a:t>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DAHJqoTlNY4</dc:identifier>
  <dcterms:modified xsi:type="dcterms:W3CDTF">2011-08-01T06:04:30Z</dcterms:modified>
  <cp:revision>1</cp:revision>
  <dc:title>CREDIT CARD FRAUD DETECTION</dc:title>
</cp:coreProperties>
</file>